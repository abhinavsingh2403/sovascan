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20095" y="0"/>
            <a:ext cx="1371600" cy="2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2600"/>
            <a:ext cx="1371600" cy="25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6366F1"/>
                </a:solidFill>
                <a:latin typeface="Arial"/>
              </a:defRPr>
            </a:pPr>
            <a:r>
              <a:t>THE REALITY OF BANKING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103601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1">
                <a:solidFill>
                  <a:srgbClr val="FFFFFF"/>
                </a:solidFill>
                <a:latin typeface="Arial"/>
              </a:defRPr>
            </a:pPr>
            <a:r>
              <a:t>"Last week, a bank developer committed a production database password to a public repository.</a:t>
            </a:r>
            <a:br/>
            <a:r>
              <a:t>It sat live, exposed to the internet, for 6 hours before anyone noticed."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75488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94A3B8"/>
                </a:solidFill>
                <a:latin typeface="Arial"/>
              </a:defRPr>
            </a:pPr>
            <a:r>
              <a:t>Manual audits are too slow. Static spreadsheets fail. Credit data leaks in seconds.</a:t>
            </a:r>
            <a:br/>
            <a:r>
              <a:t>How does a SecOps team stay ahead of the risk?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SOVASCAN  |  Regulatory Code Compliance Platform  |  Continuous Auditing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20095" y="0"/>
            <a:ext cx="1371600" cy="2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2600"/>
            <a:ext cx="1371600" cy="25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ovascan_owl_logo_178449046969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2926080" cy="2926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0" y="155448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 i="0">
                <a:solidFill>
                  <a:srgbClr val="FFFFFF"/>
                </a:solidFill>
                <a:latin typeface="Arial"/>
              </a:defRPr>
            </a:pPr>
            <a:r>
              <a:t>SovaScan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237744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6366F1"/>
                </a:solidFill>
                <a:latin typeface="Arial"/>
              </a:defRPr>
            </a:pPr>
            <a:r>
              <a:t>Intelligent Vulnerability, Configuration &amp; Secret Security Analyzer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2834640"/>
            <a:ext cx="6858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94A3B8"/>
                </a:solidFill>
                <a:latin typeface="Arial"/>
              </a:defRPr>
            </a:pPr>
            <a:r>
              <a:t>Tailored for Continuous Regulatory Auditing and Automated Remediation in Banking Codebases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4114800"/>
            <a:ext cx="5029200" cy="2540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438912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59E0B"/>
                </a:solidFill>
                <a:latin typeface="Arial"/>
              </a:defRPr>
            </a:pPr>
            <a:r>
              <a:t>National Hackathon 2026  |  UCO Bank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480060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94A3B8"/>
                </a:solidFill>
                <a:latin typeface="Arial"/>
              </a:defRPr>
            </a:pPr>
            <a:r>
              <a:t>Designed for Continuous CISO Security Gates &amp; Active Auditing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521208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475569"/>
                </a:solidFill>
                <a:latin typeface="Arial"/>
              </a:defRPr>
            </a:pPr>
            <a:r>
              <a:t>Presented by: Team Verstappen Paglus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SOVASCAN  |  Regulatory Code Compliance Platform  |  Continuous Auditing 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4577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20095" y="0"/>
            <a:ext cx="1371600" cy="2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2600"/>
            <a:ext cx="1371600" cy="25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Priya's Daily Threat Landscape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64592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The reality of managing code security audits at a scale of 100+ active repositories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366F1"/>
                </a:solidFill>
              </a:defRPr>
            </a:pPr>
            <a:r>
              <a:t>Priya's primary bottlenecks as a SecOps engineer: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EF4444"/>
                </a:solidFill>
                <a:latin typeface="Arial"/>
              </a:rPr>
              <a:t>•  Lagging Security Visibility: </a:t>
            </a:r>
            <a:r>
              <a:rPr b="0" sz="1200">
                <a:solidFill>
                  <a:srgbClr val="94A3B8"/>
                </a:solidFill>
                <a:latin typeface="Arial"/>
              </a:rPr>
              <a:t>Compliance audits are run manually twice a year. Between audits, developers commit code containing vulnerabilities undetected.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EF4444"/>
                </a:solidFill>
                <a:latin typeface="Arial"/>
              </a:rPr>
              <a:t>•  Undetected Leaks in Repos: </a:t>
            </a:r>
            <a:r>
              <a:rPr b="0" sz="1200">
                <a:solidFill>
                  <a:srgbClr val="94A3B8"/>
                </a:solidFill>
                <a:latin typeface="Arial"/>
              </a:rPr>
              <a:t>Database credentials and API key hashes are committed in local configurations. Generic scanners miss complex secret patterns.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EF4444"/>
                </a:solidFill>
                <a:latin typeface="Arial"/>
              </a:rPr>
              <a:t>•  Disconnected Compliance Docs: </a:t>
            </a:r>
            <a:r>
              <a:rPr b="0" sz="1200">
                <a:solidFill>
                  <a:srgbClr val="94A3B8"/>
                </a:solidFill>
                <a:latin typeface="Arial"/>
              </a:rPr>
              <a:t>RBI guidelines and SOC-2 trust criteria are tracked in spreadsheets, disjointed from actual code status.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0" y="1645920"/>
            <a:ext cx="4846320" cy="4114800"/>
          </a:xfrm>
          <a:prstGeom prst="rect">
            <a:avLst/>
          </a:prstGeom>
          <a:solidFill>
            <a:srgbClr val="0E1527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0" y="1645920"/>
            <a:ext cx="4846320" cy="50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20116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Arial"/>
              </a:defRPr>
            </a:pPr>
            <a:r>
              <a:t>THE FINANCIAL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22860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EF4444"/>
                </a:solidFill>
                <a:latin typeface="Arial"/>
              </a:defRPr>
            </a:pPr>
            <a:r>
              <a:t>277 Days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2606040"/>
            <a:ext cx="4114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94A3B8"/>
                </a:solidFill>
                <a:latin typeface="Arial"/>
              </a:defRPr>
            </a:pPr>
            <a:r>
              <a:t>Average time required to identify and resolve key leaks in large-scale repositories.</a:t>
            </a:r>
            <a:br/>
            <a:r>
              <a:t>Source: IBM Cost of a Data Breach Report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34747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EF4444"/>
                </a:solidFill>
                <a:latin typeface="Arial"/>
              </a:defRPr>
            </a:pPr>
            <a:r>
              <a:t>$4.5M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3794760"/>
            <a:ext cx="4114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94A3B8"/>
                </a:solidFill>
                <a:latin typeface="Arial"/>
              </a:defRPr>
            </a:pPr>
            <a:r>
              <a:t>Average global cost of data breaches in banking and financial configurations.</a:t>
            </a:r>
            <a:br/>
            <a:r>
              <a:t>Source: IBM Cost of a Data Breach Report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46634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EF4444"/>
                </a:solidFill>
                <a:latin typeface="Arial"/>
              </a:defRPr>
            </a:pPr>
            <a:r>
              <a:t>Regulatory Risk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4983480"/>
            <a:ext cx="4114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 i="0">
                <a:solidFill>
                  <a:srgbClr val="94A3B8"/>
                </a:solidFill>
                <a:latin typeface="Arial"/>
              </a:defRPr>
            </a:pPr>
            <a:r>
              <a:t>Heavy penalties by RBI for lacking continuous vulnerability assessment systems.</a:t>
            </a:r>
            <a:br/>
            <a:r>
              <a:t>Source: RBI Cybersecurity Guidelines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SOVASCAN  |  Regulatory Code Compliance Platform  |  Continuous Auditing 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4577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20095" y="0"/>
            <a:ext cx="1371600" cy="2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2600"/>
            <a:ext cx="1371600" cy="25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Securing Priya's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64592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Automated multi-vector scanning and live regulatory compliance mapping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How SovaScan streamlines Priya's dashboard audits: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0B981"/>
                </a:solidFill>
                <a:latin typeface="Arial"/>
              </a:rPr>
              <a:t>•  Continuous Scan Pipelines: </a:t>
            </a:r>
            <a:r>
              <a:rPr b="0" sz="1200">
                <a:solidFill>
                  <a:srgbClr val="94A3B8"/>
                </a:solidFill>
                <a:latin typeface="Arial"/>
              </a:rPr>
              <a:t>Runs automated multi-vector scanning covering dependencies, secret detection, SAST, git history, and configs.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0B981"/>
                </a:solidFill>
                <a:latin typeface="Arial"/>
              </a:rPr>
              <a:t>•  Live Compliance Mapping: </a:t>
            </a:r>
            <a:r>
              <a:rPr b="0" sz="1200">
                <a:solidFill>
                  <a:srgbClr val="94A3B8"/>
                </a:solidFill>
                <a:latin typeface="Arial"/>
              </a:rPr>
              <a:t>Translates raw CVEs and vulnerabilities directly into passing/failing control checklists for RBI, NIST, and SOC-2.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0B981"/>
                </a:solidFill>
                <a:latin typeface="Arial"/>
              </a:rPr>
              <a:t>•  One-Click Remediations: </a:t>
            </a:r>
            <a:r>
              <a:rPr b="0" sz="1200">
                <a:solidFill>
                  <a:srgbClr val="94A3B8"/>
                </a:solidFill>
                <a:latin typeface="Arial"/>
              </a:rPr>
              <a:t>Priya can apply auto-fixes and roll back changes instantly, directly inside the dashboard panel.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0" y="1645920"/>
            <a:ext cx="4846320" cy="4114800"/>
          </a:xfrm>
          <a:prstGeom prst="rect">
            <a:avLst/>
          </a:prstGeom>
          <a:solidFill>
            <a:srgbClr val="0E15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0" y="1645920"/>
            <a:ext cx="484632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20116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Arial"/>
              </a:defRPr>
            </a:pPr>
            <a:r>
              <a:t>THE SOLUTION BENEFIT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22860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0B981"/>
                </a:solidFill>
                <a:latin typeface="Arial"/>
              </a:defRPr>
            </a:pPr>
            <a:r>
              <a:t>Real-Time WebSocket Warnings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260604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  <a:latin typeface="Arial"/>
              </a:defRPr>
            </a:pPr>
            <a:r>
              <a:t>Vulnerability findings and automated alerts sent in seconds upon scan completion.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34747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0B981"/>
                </a:solidFill>
                <a:latin typeface="Arial"/>
              </a:defRPr>
            </a:pPr>
            <a:r>
              <a:t>100% Audit Ready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379476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  <a:latin typeface="Arial"/>
              </a:defRPr>
            </a:pPr>
            <a:r>
              <a:t>Continuous dashboard shows actual compliance posture for executive review.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46634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0B981"/>
                </a:solidFill>
                <a:latin typeface="Arial"/>
              </a:defRPr>
            </a:pPr>
            <a:r>
              <a:t>Closed Loop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498348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  <a:latin typeface="Arial"/>
              </a:defRPr>
            </a:pPr>
            <a:r>
              <a:t>Identify, remediate, audit, and alert - all in a single integrated workflow.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SOVASCAN  |  Regulatory Code Compliance Platform  |  Continuous Auditing 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4577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20095" y="0"/>
            <a:ext cx="1371600" cy="2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2600"/>
            <a:ext cx="1371600" cy="25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64592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Core components and data relationships flowchart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77440"/>
            <a:ext cx="2468880" cy="1097280"/>
          </a:xfrm>
          <a:prstGeom prst="roundRect">
            <a:avLst/>
          </a:prstGeom>
          <a:solidFill>
            <a:srgbClr val="0E1527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536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Dashboard 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94A3B8"/>
                </a:solidFill>
                <a:latin typeface="Arial"/>
              </a:defRPr>
            </a:pPr>
            <a:r>
              <a:t>React 18 / Zustand</a:t>
            </a:r>
            <a:br/>
            <a:r>
              <a:t>Recharts SVG Gauges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291840" y="2807208"/>
            <a:ext cx="548640" cy="228600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931920" y="2377440"/>
            <a:ext cx="2468880" cy="1097280"/>
          </a:xfrm>
          <a:prstGeom prst="roundRect">
            <a:avLst/>
          </a:prstGeom>
          <a:solidFill>
            <a:srgbClr val="0E1527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31920" y="24536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API Router Gateway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274320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94A3B8"/>
                </a:solidFill>
                <a:latin typeface="Arial"/>
              </a:defRPr>
            </a:pPr>
            <a:r>
              <a:t>FastAPI Router</a:t>
            </a:r>
            <a:br/>
            <a:r>
              <a:t>API Key Verification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492240" y="2468880"/>
            <a:ext cx="548640" cy="228600"/>
          </a:xfrm>
          <a:prstGeom prst="rightArrow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own Arrow 14"/>
          <p:cNvSpPr/>
          <p:nvPr/>
        </p:nvSpPr>
        <p:spPr>
          <a:xfrm>
            <a:off x="5052060" y="3566160"/>
            <a:ext cx="228600" cy="365760"/>
          </a:xfrm>
          <a:prstGeom prst="downArrow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931920" y="4023360"/>
            <a:ext cx="2468880" cy="1097280"/>
          </a:xfrm>
          <a:prstGeom prst="roundRect">
            <a:avLst/>
          </a:prstGeom>
          <a:solidFill>
            <a:srgbClr val="0E1527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31920" y="40995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Alert Dispatcher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438912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94A3B8"/>
                </a:solidFill>
                <a:latin typeface="Arial"/>
              </a:defRPr>
            </a:pPr>
            <a:r>
              <a:t>Slack / Teams Alerting</a:t>
            </a:r>
            <a:br/>
            <a:r>
              <a:t>(Outbound SSRF Safe)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0" y="1645920"/>
            <a:ext cx="2468880" cy="1097280"/>
          </a:xfrm>
          <a:prstGeom prst="roundRect">
            <a:avLst/>
          </a:prstGeom>
          <a:solidFill>
            <a:srgbClr val="0E1527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0" y="17221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Scan Orchestrator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201168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94A3B8"/>
                </a:solidFill>
                <a:latin typeface="Arial"/>
              </a:defRPr>
            </a:pPr>
            <a:r>
              <a:t>ScanManager Task Runner</a:t>
            </a:r>
            <a:br/>
            <a:r>
              <a:t>Real-time WebSockets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8252460" y="2834640"/>
            <a:ext cx="228600" cy="365760"/>
          </a:xfrm>
          <a:prstGeom prst="downArrow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32320" y="3291840"/>
            <a:ext cx="2468880" cy="1097280"/>
          </a:xfrm>
          <a:prstGeom prst="roundRect">
            <a:avLst/>
          </a:prstGeom>
          <a:solidFill>
            <a:srgbClr val="0E1527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0" y="33680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Multi-Vector Scanners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365760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94A3B8"/>
                </a:solidFill>
                <a:latin typeface="Arial"/>
              </a:defRPr>
            </a:pPr>
            <a:r>
              <a:t>SAST / Secrets / Deps</a:t>
            </a:r>
            <a:br/>
            <a:r>
              <a:t>Git History Crawler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9692640" y="3721608"/>
            <a:ext cx="548640" cy="228600"/>
          </a:xfrm>
          <a:prstGeom prst="right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own Arrow 26"/>
          <p:cNvSpPr/>
          <p:nvPr/>
        </p:nvSpPr>
        <p:spPr>
          <a:xfrm>
            <a:off x="8252460" y="4480560"/>
            <a:ext cx="228600" cy="365760"/>
          </a:xfrm>
          <a:prstGeom prst="down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0332720" y="3291840"/>
            <a:ext cx="2011680" cy="1097280"/>
          </a:xfrm>
          <a:prstGeom prst="roundRect">
            <a:avLst/>
          </a:prstGeom>
          <a:solidFill>
            <a:srgbClr val="0E1527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32720" y="3368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SQLite DB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2720" y="36576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94A3B8"/>
                </a:solidFill>
                <a:latin typeface="Arial"/>
              </a:defRPr>
            </a:pPr>
            <a:r>
              <a:t>sovascan.db</a:t>
            </a:r>
            <a:br/>
            <a:r>
              <a:t>Audit Log Ledger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32320" y="4937760"/>
            <a:ext cx="2468880" cy="1097280"/>
          </a:xfrm>
          <a:prstGeom prst="roundRect">
            <a:avLst/>
          </a:prstGeom>
          <a:solidFill>
            <a:srgbClr val="0E1527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20" y="50139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Threat Intel Feeds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0" y="530352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94A3B8"/>
                </a:solidFill>
                <a:latin typeface="Arial"/>
              </a:defRPr>
            </a:pPr>
            <a:r>
              <a:t>OSV API / CVE Feeds</a:t>
            </a:r>
            <a:br/>
            <a:r>
              <a:t>CISA KEV / EPSS DB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1">
                <a:solidFill>
                  <a:srgbClr val="94A3B8"/>
                </a:solidFill>
                <a:latin typeface="Arial"/>
              </a:defRPr>
            </a:pPr>
            <a:r>
              <a:t>⚡ Data Flow: Dashboard requests trigger secure APIs. The Gateway schedules task workers via ScanManager, audits threat parameters, updates SQLite states, dispatches Slack notifications, and streams progress alerts.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SOVASCAN  |  Regulatory Code Compliance Platform  |  Continuous Auditing Solution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4577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20095" y="0"/>
            <a:ext cx="1371600" cy="2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2600"/>
            <a:ext cx="1371600" cy="25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Scan Execution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64592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Low-level task lifecycle and API/worker transaction flow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2468880" cy="1645920"/>
          </a:xfrm>
          <a:prstGeom prst="rect">
            <a:avLst/>
          </a:prstGeom>
          <a:solidFill>
            <a:srgbClr val="0E1527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2468880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475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3B82F6"/>
                </a:solidFill>
                <a:latin typeface="Arial"/>
              </a:defRPr>
            </a:pPr>
            <a:r>
              <a:t>1. TRIGGER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1168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  <a:latin typeface="Arial"/>
              </a:defRPr>
            </a:pPr>
            <a:r>
              <a:t>User POSTs Git URL + key credentials to /api/v1/scan API route.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246120" y="2286000"/>
            <a:ext cx="320040" cy="182880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11880" y="1645920"/>
            <a:ext cx="2468880" cy="1645920"/>
          </a:xfrm>
          <a:prstGeom prst="rect">
            <a:avLst/>
          </a:prstGeom>
          <a:solidFill>
            <a:srgbClr val="0E1527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11880" y="1645920"/>
            <a:ext cx="2468880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94760" y="17475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3B82F6"/>
                </a:solidFill>
                <a:latin typeface="Arial"/>
              </a:defRPr>
            </a:pPr>
            <a:r>
              <a:t>2. API GATEWAY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201168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  <a:latin typeface="Arial"/>
              </a:defRPr>
            </a:pPr>
            <a:r>
              <a:t>Router checks auth state, writes PENDING to DB, and returns a 202 ID.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126480" y="2286000"/>
            <a:ext cx="320040" cy="182880"/>
          </a:xfrm>
          <a:prstGeom prst="rightArrow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92240" y="1645920"/>
            <a:ext cx="2468880" cy="1645920"/>
          </a:xfrm>
          <a:prstGeom prst="rect">
            <a:avLst/>
          </a:prstGeom>
          <a:solidFill>
            <a:srgbClr val="0E1527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92240" y="1645920"/>
            <a:ext cx="2468880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20840" y="17475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6366F1"/>
                </a:solidFill>
                <a:latin typeface="Arial"/>
              </a:defRPr>
            </a:pPr>
            <a:r>
              <a:t>3. DISPATCH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201168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  <a:latin typeface="Arial"/>
              </a:defRPr>
            </a:pPr>
            <a:r>
              <a:t>ScanManager schedules worker task, decoupling scan from HTTP threads.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9006840" y="2286000"/>
            <a:ext cx="320040" cy="182880"/>
          </a:xfrm>
          <a:prstGeom prst="rightArrow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372600" y="1645920"/>
            <a:ext cx="2468880" cy="1645920"/>
          </a:xfrm>
          <a:prstGeom prst="rect">
            <a:avLst/>
          </a:prstGeom>
          <a:solidFill>
            <a:srgbClr val="0E1527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372600" y="1645920"/>
            <a:ext cx="2468880" cy="50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55480" y="17475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8B5CF6"/>
                </a:solidFill>
                <a:latin typeface="Arial"/>
              </a:defRPr>
            </a:pPr>
            <a:r>
              <a:t>4. CLONE TARGET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55480" y="201168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  <a:latin typeface="Arial"/>
              </a:defRPr>
            </a:pPr>
            <a:r>
              <a:t>Worker spawns secure temporary clones of target Git directories.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10492740" y="3383280"/>
            <a:ext cx="228600" cy="457200"/>
          </a:xfrm>
          <a:prstGeom prst="downArrow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372600" y="3931920"/>
            <a:ext cx="2468880" cy="1645920"/>
          </a:xfrm>
          <a:prstGeom prst="rect">
            <a:avLst/>
          </a:prstGeom>
          <a:solidFill>
            <a:srgbClr val="0E1527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372600" y="3931920"/>
            <a:ext cx="2468880" cy="50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55480" y="40335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8B5CF6"/>
                </a:solidFill>
                <a:latin typeface="Arial"/>
              </a:defRPr>
            </a:pPr>
            <a:r>
              <a:t>5. EXECUTE AUDITS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55480" y="429768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  <a:latin typeface="Arial"/>
              </a:defRPr>
            </a:pPr>
            <a:r>
              <a:t>Runs parallel vector checks: SAST, secrets, CVEs, git history, configs.</a:t>
            </a:r>
          </a:p>
        </p:txBody>
      </p:sp>
      <p:sp>
        <p:nvSpPr>
          <p:cNvPr id="31" name="Left Arrow 30"/>
          <p:cNvSpPr/>
          <p:nvPr/>
        </p:nvSpPr>
        <p:spPr>
          <a:xfrm>
            <a:off x="9006840" y="4572000"/>
            <a:ext cx="320040" cy="182880"/>
          </a:xfrm>
          <a:prstGeom prst="lef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92240" y="3931920"/>
            <a:ext cx="2468880" cy="1645920"/>
          </a:xfrm>
          <a:prstGeom prst="rect">
            <a:avLst/>
          </a:prstGeom>
          <a:solidFill>
            <a:srgbClr val="0E152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92240" y="3931920"/>
            <a:ext cx="246888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75120" y="40335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59E0B"/>
                </a:solidFill>
                <a:latin typeface="Arial"/>
              </a:defRPr>
            </a:pPr>
            <a:r>
              <a:t>6. COMPLIANCE MAPPING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429768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  <a:latin typeface="Arial"/>
              </a:defRPr>
            </a:pPr>
            <a:r>
              <a:t>Applies scoring modifiers and correlates issues to RBI/NIST controls.</a:t>
            </a:r>
          </a:p>
        </p:txBody>
      </p:sp>
      <p:sp>
        <p:nvSpPr>
          <p:cNvPr id="36" name="Left Arrow 35"/>
          <p:cNvSpPr/>
          <p:nvPr/>
        </p:nvSpPr>
        <p:spPr>
          <a:xfrm>
            <a:off x="6126480" y="4572000"/>
            <a:ext cx="320040" cy="182880"/>
          </a:xfrm>
          <a:prstGeom prst="left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611880" y="3931920"/>
            <a:ext cx="2468880" cy="1645920"/>
          </a:xfrm>
          <a:prstGeom prst="rect">
            <a:avLst/>
          </a:prstGeom>
          <a:solidFill>
            <a:srgbClr val="0E15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611880" y="3931920"/>
            <a:ext cx="246888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794760" y="40335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0B981"/>
                </a:solidFill>
                <a:latin typeface="Arial"/>
              </a:defRPr>
            </a:pPr>
            <a:r>
              <a:t>7. WRITE DETAILS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94760" y="429768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  <a:latin typeface="Arial"/>
              </a:defRPr>
            </a:pPr>
            <a:r>
              <a:t>Persists findings, exports SBOM list, dispatches notifications.</a:t>
            </a:r>
          </a:p>
        </p:txBody>
      </p:sp>
      <p:sp>
        <p:nvSpPr>
          <p:cNvPr id="41" name="Left Arrow 40"/>
          <p:cNvSpPr/>
          <p:nvPr/>
        </p:nvSpPr>
        <p:spPr>
          <a:xfrm>
            <a:off x="3246120" y="4572000"/>
            <a:ext cx="320040" cy="182880"/>
          </a:xfrm>
          <a:prstGeom prst="left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1520" y="3931920"/>
            <a:ext cx="2468880" cy="1645920"/>
          </a:xfrm>
          <a:prstGeom prst="rect">
            <a:avLst/>
          </a:prstGeom>
          <a:solidFill>
            <a:srgbClr val="0E15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31520" y="3931920"/>
            <a:ext cx="246888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40335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0B981"/>
                </a:solidFill>
                <a:latin typeface="Arial"/>
              </a:defRPr>
            </a:pPr>
            <a:r>
              <a:t>8. WEBSOCKET FEED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429768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  <a:latin typeface="Arial"/>
              </a:defRPr>
            </a:pPr>
            <a:r>
              <a:t>UI receives completion events, re-indexing stats and compliance speedometer.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SOVASCAN  |  Regulatory Code Compliance Platform  |  Continuous Auditing Solution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4577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20095" y="0"/>
            <a:ext cx="1371600" cy="2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2600"/>
            <a:ext cx="1371600" cy="25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Multi-Vector Scanning Engine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64592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Parallel code audit layers checking for complex vulnerabilities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3383280" cy="1920240"/>
          </a:xfrm>
          <a:prstGeom prst="rect">
            <a:avLst/>
          </a:prstGeom>
          <a:solidFill>
            <a:srgbClr val="0E1527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3383280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729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Arial"/>
              </a:defRPr>
            </a:pPr>
            <a:r>
              <a:t>Dependency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5740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94A3B8"/>
                </a:solidFill>
                <a:latin typeface="Arial"/>
              </a:defRPr>
            </a:pPr>
            <a:r>
              <a:t>Extracts manifest definitions (package.json, requirements.txt, pom.xml) and runs CVE assessments via OSV API integrations.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1645920"/>
            <a:ext cx="3383280" cy="1920240"/>
          </a:xfrm>
          <a:prstGeom prst="rect">
            <a:avLst/>
          </a:prstGeom>
          <a:solidFill>
            <a:srgbClr val="0E152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645920"/>
            <a:ext cx="338328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7729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Arial"/>
              </a:defRPr>
            </a:pPr>
            <a:r>
              <a:t>Secret Detection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05740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94A3B8"/>
                </a:solidFill>
                <a:latin typeface="Arial"/>
              </a:defRPr>
            </a:pPr>
            <a:r>
              <a:t>Executes high-entropy Shannon algorithm checks + regex signatures to find raw passwords, private keys, and API tokens.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645920"/>
            <a:ext cx="3383280" cy="1920240"/>
          </a:xfrm>
          <a:prstGeom prst="rect">
            <a:avLst/>
          </a:prstGeom>
          <a:solidFill>
            <a:srgbClr val="0E1527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645920"/>
            <a:ext cx="3383280" cy="50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7729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Arial"/>
              </a:defRPr>
            </a:pPr>
            <a:r>
              <a:t>Static Analysis (SAST)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05740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94A3B8"/>
                </a:solidFill>
                <a:latin typeface="Arial"/>
              </a:defRPr>
            </a:pPr>
            <a:r>
              <a:t>Seamlessly triggers Bandit (Python AST) and Semgrep (static pattern matching) subprocesses to audit source logic.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840480"/>
            <a:ext cx="3383280" cy="1920240"/>
          </a:xfrm>
          <a:prstGeom prst="rect">
            <a:avLst/>
          </a:prstGeom>
          <a:solidFill>
            <a:srgbClr val="0E1527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3840480"/>
            <a:ext cx="3383280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9674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Arial"/>
              </a:defRPr>
            </a:pPr>
            <a:r>
              <a:t>Git History Crawler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25196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94A3B8"/>
                </a:solidFill>
                <a:latin typeface="Arial"/>
              </a:defRPr>
            </a:pPr>
            <a:r>
              <a:t>Iterates through full commit logs (git log -p) to identify historical leaks hidden in older code revisions.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34840" y="3840480"/>
            <a:ext cx="3383280" cy="1920240"/>
          </a:xfrm>
          <a:prstGeom prst="rect">
            <a:avLst/>
          </a:prstGeom>
          <a:solidFill>
            <a:srgbClr val="0E1527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34840" y="3840480"/>
            <a:ext cx="3383280" cy="50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17720" y="39674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Arial"/>
              </a:defRPr>
            </a:pPr>
            <a:r>
              <a:t>Configuration Audits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425196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94A3B8"/>
                </a:solidFill>
                <a:latin typeface="Arial"/>
              </a:defRPr>
            </a:pPr>
            <a:r>
              <a:t>Audits deployment configurations (Dockerfiles, Nginx configs, env scripts) for insecure defaults and CORS issues.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38160" y="3840480"/>
            <a:ext cx="3383280" cy="1920240"/>
          </a:xfrm>
          <a:prstGeom prst="rect">
            <a:avLst/>
          </a:prstGeom>
          <a:solidFill>
            <a:srgbClr val="0E15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38160" y="3840480"/>
            <a:ext cx="338328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39674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Arial"/>
              </a:defRPr>
            </a:pPr>
            <a:r>
              <a:t>Dynamic Context-Scoring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425196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94A3B8"/>
                </a:solidFill>
                <a:latin typeface="Arial"/>
              </a:defRPr>
            </a:pPr>
            <a:r>
              <a:t>Applies location-aware multipliers. Modifies risk scores if vulnerability is located in production vs testing directories.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SOVASCAN  |  Regulatory Code Compliance Platform  |  Continuous Auditing Solution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4577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20095" y="0"/>
            <a:ext cx="1371600" cy="2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2600"/>
            <a:ext cx="1371600" cy="25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Regulatory Compliance Mapping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64592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Translating code vulnerabilities directly to regulatory controls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2468880" cy="3931920"/>
          </a:xfrm>
          <a:prstGeom prst="rect">
            <a:avLst/>
          </a:prstGeom>
          <a:solidFill>
            <a:srgbClr val="0E1527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2468880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983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Arial"/>
              </a:defRPr>
            </a:pPr>
            <a:r>
              <a:t>NIST-CSF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48840"/>
            <a:ext cx="2194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475569"/>
                </a:solidFill>
                <a:latin typeface="Arial"/>
              </a:defRPr>
            </a:pPr>
            <a:r>
              <a:t>National Institute of Standards &amp; Technology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2926080"/>
            <a:ext cx="1920240" cy="1905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06324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94A3B8"/>
                </a:solidFill>
                <a:latin typeface="Arial"/>
              </a:defRPr>
            </a:pPr>
            <a:r>
              <a:t>Maps code vulnerability scans onto core NIST pillars to trace posture.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4343400"/>
            <a:ext cx="2194560" cy="1097280"/>
          </a:xfrm>
          <a:prstGeom prst="roundRect">
            <a:avLst/>
          </a:prstGeom>
          <a:solidFill>
            <a:srgbClr val="060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389120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 i="0">
                <a:solidFill>
                  <a:srgbClr val="3B82F6"/>
                </a:solidFill>
                <a:latin typeface="Arial"/>
              </a:defRPr>
            </a:pPr>
            <a:r>
              <a:t>Identify, Protect, Detect, Respond, Recover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0" y="1645920"/>
            <a:ext cx="2468880" cy="3931920"/>
          </a:xfrm>
          <a:prstGeom prst="rect">
            <a:avLst/>
          </a:prstGeom>
          <a:solidFill>
            <a:srgbClr val="0E1527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74720" y="1645920"/>
            <a:ext cx="2468880" cy="50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1880" y="17983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Arial"/>
              </a:defRPr>
            </a:pPr>
            <a:r>
              <a:t>SOC-2 Type 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2148840"/>
            <a:ext cx="2194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475569"/>
                </a:solidFill>
                <a:latin typeface="Arial"/>
              </a:defRPr>
            </a:pPr>
            <a:r>
              <a:t>Service Organization Control Report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49040" y="2926080"/>
            <a:ext cx="1920240" cy="1905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11880" y="306324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94A3B8"/>
                </a:solidFill>
                <a:latin typeface="Arial"/>
              </a:defRPr>
            </a:pPr>
            <a:r>
              <a:t>Secures compliance gates by auditing trust service criteria.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11880" y="4343400"/>
            <a:ext cx="2194560" cy="1097280"/>
          </a:xfrm>
          <a:prstGeom prst="roundRect">
            <a:avLst/>
          </a:prstGeom>
          <a:solidFill>
            <a:srgbClr val="060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0" y="4389120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 i="0">
                <a:solidFill>
                  <a:srgbClr val="8B5CF6"/>
                </a:solidFill>
                <a:latin typeface="Arial"/>
              </a:defRPr>
            </a:pPr>
            <a:r>
              <a:t>Security, Confidentiality, and Privacy Policies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1645920"/>
            <a:ext cx="2468880" cy="3931920"/>
          </a:xfrm>
          <a:prstGeom prst="rect">
            <a:avLst/>
          </a:prstGeom>
          <a:solidFill>
            <a:srgbClr val="0E152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1645920"/>
            <a:ext cx="246888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17983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Arial"/>
              </a:defRPr>
            </a:pPr>
            <a:r>
              <a:t>OWASP Top 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2148840"/>
            <a:ext cx="2194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475569"/>
                </a:solidFill>
                <a:latin typeface="Arial"/>
              </a:defRPr>
            </a:pPr>
            <a:r>
              <a:t>Open Web Application Security Project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92240" y="2926080"/>
            <a:ext cx="1920240" cy="1905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306324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94A3B8"/>
                </a:solidFill>
                <a:latin typeface="Arial"/>
              </a:defRPr>
            </a:pPr>
            <a:r>
              <a:t>Links code issues directly to major web vulnerability lists.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55080" y="4343400"/>
            <a:ext cx="2194560" cy="1097280"/>
          </a:xfrm>
          <a:prstGeom prst="roundRect">
            <a:avLst/>
          </a:prstGeom>
          <a:solidFill>
            <a:srgbClr val="060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4389120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 i="0">
                <a:solidFill>
                  <a:srgbClr val="F59E0B"/>
                </a:solidFill>
                <a:latin typeface="Arial"/>
              </a:defRPr>
            </a:pPr>
            <a:r>
              <a:t>Injection, XSS, SSRF, Broken Auth, Misconfiguration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961120" y="1645920"/>
            <a:ext cx="2468880" cy="3931920"/>
          </a:xfrm>
          <a:prstGeom prst="rect">
            <a:avLst/>
          </a:prstGeom>
          <a:solidFill>
            <a:srgbClr val="0E1527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961120" y="1645920"/>
            <a:ext cx="2468880" cy="50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98280" y="17983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Arial"/>
              </a:defRPr>
            </a:pPr>
            <a:r>
              <a:t>RBI-CSF Guidelines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98280" y="2148840"/>
            <a:ext cx="2194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475569"/>
                </a:solidFill>
                <a:latin typeface="Arial"/>
              </a:defRPr>
            </a:pPr>
            <a:r>
              <a:t>Reserve Bank of India Guidelines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235440" y="2926080"/>
            <a:ext cx="1920240" cy="1905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98280" y="306324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94A3B8"/>
                </a:solidFill>
                <a:latin typeface="Arial"/>
              </a:defRPr>
            </a:pPr>
            <a:r>
              <a:t>Audits specific Indian banking security regulations.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98280" y="4343400"/>
            <a:ext cx="2194560" cy="1097280"/>
          </a:xfrm>
          <a:prstGeom prst="roundRect">
            <a:avLst/>
          </a:prstGeom>
          <a:solidFill>
            <a:srgbClr val="060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0" y="4389120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 i="0">
                <a:solidFill>
                  <a:srgbClr val="EF4444"/>
                </a:solidFill>
                <a:latin typeface="Arial"/>
              </a:defRPr>
            </a:pPr>
            <a:r>
              <a:t>PAN masking, Cryptography, Timeouts, Data encryption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SOVASCAN  |  Regulatory Code Compliance Platform  |  Continuous Auditing Solution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4577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20095" y="0"/>
            <a:ext cx="1371600" cy="2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2600"/>
            <a:ext cx="1371600" cy="25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Priya's Cockpit: SovaScan 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64592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Interactive analytical workspace and real-time dashboard stats</a:t>
            </a:r>
          </a:p>
        </p:txBody>
      </p:sp>
      <p:pic>
        <p:nvPicPr>
          <p:cNvPr id="7" name="Picture 6" descr="media__17844915771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37360"/>
            <a:ext cx="6858000" cy="3931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863840" y="1645920"/>
            <a:ext cx="3566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B82F6"/>
                </a:solidFill>
              </a:defRPr>
            </a:pPr>
            <a:r>
              <a:t>Dashboard Elements: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3B82F6"/>
                </a:solidFill>
                <a:latin typeface="Arial"/>
              </a:rPr>
              <a:t>•  Overall Security Risk: </a:t>
            </a:r>
            <a:r>
              <a:rPr b="0" sz="1200">
                <a:solidFill>
                  <a:srgbClr val="94A3B8"/>
                </a:solidFill>
                <a:latin typeface="Arial"/>
              </a:rPr>
              <a:t>Circular dial detailing core vulnerabilities grouped into critical/high categories.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3B82F6"/>
                </a:solidFill>
                <a:latin typeface="Arial"/>
              </a:rPr>
              <a:t>•  Findings by Severity: </a:t>
            </a:r>
            <a:r>
              <a:rPr b="0" sz="1200">
                <a:solidFill>
                  <a:srgbClr val="94A3B8"/>
                </a:solidFill>
                <a:latin typeface="Arial"/>
              </a:rPr>
              <a:t>Dynamically updated chart displaying counts (e.g. 122 Medium, 28 High, 8 Critical findings).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3B82F6"/>
                </a:solidFill>
                <a:latin typeface="Arial"/>
              </a:rPr>
              <a:t>•  Security Trend: </a:t>
            </a:r>
            <a:r>
              <a:rPr b="0" sz="1200">
                <a:solidFill>
                  <a:srgbClr val="94A3B8"/>
                </a:solidFill>
                <a:latin typeface="Arial"/>
              </a:rPr>
              <a:t>Historical line graphs plotting scan vulnerability numbers over continuous execution periods.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3B82F6"/>
                </a:solidFill>
                <a:latin typeface="Arial"/>
              </a:rPr>
              <a:t>•  Terminal View: </a:t>
            </a:r>
            <a:r>
              <a:rPr b="0" sz="1200">
                <a:solidFill>
                  <a:srgbClr val="94A3B8"/>
                </a:solidFill>
                <a:latin typeface="Arial"/>
              </a:rPr>
              <a:t>Bottom logging panel serving system output feeds direct to developers in real-time.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SOVASCAN  |  Regulatory Code Compliance Platform  |  Continuous Auditing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4577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20095" y="0"/>
            <a:ext cx="1371600" cy="2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2600"/>
            <a:ext cx="1371600" cy="25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Case Study: What Almost Went Wrong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64592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SSRF vulnerability discovery and patch application on SovaScan webhook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8B5CF6"/>
                </a:solidFill>
              </a:defRPr>
            </a:pPr>
            <a:r>
              <a:t>SSRF discovery &amp; patching story: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EF4444"/>
                </a:solidFill>
                <a:latin typeface="Arial"/>
              </a:rPr>
              <a:t>•  The Vulnerability Discovery: </a:t>
            </a:r>
            <a:r>
              <a:rPr b="0" sz="1200">
                <a:solidFill>
                  <a:srgbClr val="94A3B8"/>
                </a:solidFill>
                <a:latin typeface="Arial"/>
              </a:rPr>
              <a:t>48 hours before the hackathon, we scanned our outbound Slack alert webhook module. Discovered that unvalidated URL parameters allowed requesting local subnets.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0B981"/>
                </a:solidFill>
                <a:latin typeface="Arial"/>
              </a:rPr>
              <a:t>•  SSRF Mitigation Gate: </a:t>
            </a:r>
            <a:r>
              <a:rPr b="0" sz="1200">
                <a:solidFill>
                  <a:srgbClr val="94A3B8"/>
                </a:solidFill>
                <a:latin typeface="Arial"/>
              </a:rPr>
              <a:t>Coded a DNS resolver checking domain IPs against local and link-local ranges, rejecting private spaces and non-HTTPS targets.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0B981"/>
                </a:solidFill>
                <a:latin typeface="Arial"/>
              </a:rPr>
              <a:t>•  Credential Token Masking: </a:t>
            </a:r>
            <a:r>
              <a:rPr b="0" sz="1200">
                <a:solidFill>
                  <a:srgbClr val="94A3B8"/>
                </a:solidFill>
                <a:latin typeface="Arial"/>
              </a:rPr>
              <a:t>Masked webhook secrets and DB connection URLs inside GET API returns, blocking plaintext info exposure to developers.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645920"/>
            <a:ext cx="5303520" cy="1920240"/>
          </a:xfrm>
          <a:prstGeom prst="rect">
            <a:avLst/>
          </a:prstGeom>
          <a:solidFill>
            <a:srgbClr val="0E1527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0" y="1645920"/>
            <a:ext cx="5303520" cy="50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7475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EF4444"/>
                </a:solidFill>
                <a:latin typeface="Arial"/>
              </a:defRPr>
            </a:pPr>
            <a:r>
              <a:t>BEFORE: UNRESTRICTED SSRF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01168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  <a:latin typeface="Arial"/>
              </a:defRPr>
            </a:pPr>
            <a:r>
              <a:t>Backend accepted arbitrary URL schemes and hosts, allowing an attacker with valid API credentials to execute requests to localhost, internal assets, or cloud metadata endpoints.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3840480"/>
            <a:ext cx="5303520" cy="1920240"/>
          </a:xfrm>
          <a:prstGeom prst="rect">
            <a:avLst/>
          </a:prstGeom>
          <a:solidFill>
            <a:srgbClr val="0E15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3840480"/>
            <a:ext cx="530352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39420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0B981"/>
                </a:solidFill>
                <a:latin typeface="Arial"/>
              </a:defRPr>
            </a:pPr>
            <a:r>
              <a:t>AFTER: DEFENSE-IN-DEPTH ENFORCEMENT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420624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  <a:latin typeface="Arial"/>
              </a:defRPr>
            </a:pPr>
            <a:r>
              <a:t>Strict URL verification executes socket DNS resolution first. Blocks loopbacks (127.0.0.1), subnets (10.x.x.x, 192.168.x.x), and AWS/GCP metadata (169.254.169.254). Credentials are fully masked on Settings APIs.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SOVASCAN  |  Regulatory Code Compliance Platform  |  Continuous Auditing Solution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4577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20095" y="0"/>
            <a:ext cx="1371600" cy="2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2600"/>
            <a:ext cx="1371600" cy="25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Security-First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64592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Applying production-grade security gates to protect internal banking APIs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F4444"/>
                </a:solidFill>
              </a:defRPr>
            </a:pPr>
            <a:r>
              <a:t>SovaScan Security Gates: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EF4444"/>
                </a:solidFill>
                <a:latin typeface="Arial"/>
              </a:rPr>
              <a:t>•  Outbound Webhook Gates: </a:t>
            </a:r>
            <a:r>
              <a:rPr b="0" sz="1200">
                <a:solidFill>
                  <a:srgbClr val="94A3B8"/>
                </a:solidFill>
                <a:latin typeface="Arial"/>
              </a:rPr>
              <a:t>Validates incoming alert webhook URLs. Blocks loopbacks, private subnets, and cloud metadata endpoints (169.254.169.254).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EF4444"/>
                </a:solidFill>
                <a:latin typeface="Arial"/>
              </a:rPr>
              <a:t>•  Secure Settings Storage: </a:t>
            </a:r>
            <a:r>
              <a:rPr b="0" sz="1200">
                <a:solidFill>
                  <a:srgbClr val="94A3B8"/>
                </a:solidFill>
                <a:latin typeface="Arial"/>
              </a:rPr>
              <a:t>Uses dynamic, relative paths rather than absolute paths to load and save local server settings, preventing directory traversal leaks.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EF4444"/>
                </a:solidFill>
                <a:latin typeface="Arial"/>
              </a:rPr>
              <a:t>•  Information Exposure Masking: </a:t>
            </a:r>
            <a:r>
              <a:rPr b="0" sz="1200">
                <a:solidFill>
                  <a:srgbClr val="94A3B8"/>
                </a:solidFill>
                <a:latin typeface="Arial"/>
              </a:rPr>
              <a:t>Sensitive DB credentials and webhook keys are masked with asterisks before returning to Settings views.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0" y="1645920"/>
            <a:ext cx="4846320" cy="4114800"/>
          </a:xfrm>
          <a:prstGeom prst="rect">
            <a:avLst/>
          </a:prstGeom>
          <a:solidFill>
            <a:srgbClr val="0E1527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0" y="1645920"/>
            <a:ext cx="4846320" cy="50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20116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Arial"/>
              </a:defRPr>
            </a:pPr>
            <a:r>
              <a:t>SECURITY GATES METRICS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22860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EF4444"/>
                </a:solidFill>
                <a:latin typeface="Arial"/>
              </a:defRPr>
            </a:pPr>
            <a:r>
              <a:t>SSRF 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260604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  <a:latin typeface="Arial"/>
              </a:defRPr>
            </a:pPr>
            <a:r>
              <a:t>Scheme, Hostname, DNS Lookup and IP checks verified on save and trigger pathways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34747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EF4444"/>
                </a:solidFill>
                <a:latin typeface="Arial"/>
              </a:defRPr>
            </a:pPr>
            <a:r>
              <a:t>Asterisk Masking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379476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  <a:latin typeface="Arial"/>
              </a:defRPr>
            </a:pPr>
            <a:r>
              <a:t>Webhooks are masked like 'services/T01...****/B01...****/********'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46634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EF4444"/>
                </a:solidFill>
                <a:latin typeface="Arial"/>
              </a:defRPr>
            </a:pPr>
            <a:r>
              <a:t>Dynamic Config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498348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4A3B8"/>
                </a:solidFill>
                <a:latin typeface="Arial"/>
              </a:defRPr>
            </a:pPr>
            <a:r>
              <a:t>.env is loaded from path relative to server root to avoid dev-machine path leakage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SOVASCAN  |  Regulatory Code Compliance Platform  |  Continuous Auditing 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4577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20095" y="0"/>
            <a:ext cx="1371600" cy="2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2600"/>
            <a:ext cx="1371600" cy="25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Priya's Early Warning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64592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Live diagnostic triggers and secure internal alert integrations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Secure Alert Notifications: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0B981"/>
                </a:solidFill>
                <a:latin typeface="Arial"/>
              </a:rPr>
              <a:t>•  Slack &amp; Teams integrations: </a:t>
            </a:r>
            <a:r>
              <a:rPr b="0" sz="1200">
                <a:solidFill>
                  <a:srgbClr val="94A3B8"/>
                </a:solidFill>
                <a:latin typeface="Arial"/>
              </a:rPr>
              <a:t>Sends structured Slack markdown alert messages immediately upon scan completion to designated webhook URLs.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0B981"/>
                </a:solidFill>
                <a:latin typeface="Arial"/>
              </a:rPr>
              <a:t>•  Instant Diagnostic testing: </a:t>
            </a:r>
            <a:r>
              <a:rPr b="0" sz="1200">
                <a:solidFill>
                  <a:srgbClr val="94A3B8"/>
                </a:solidFill>
                <a:latin typeface="Arial"/>
              </a:rPr>
              <a:t>Features a dedicated '⚡ Test Webhook Alert' button in the frontend Settings page to verify delivery parameters.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10B981"/>
                </a:solidFill>
                <a:latin typeface="Arial"/>
              </a:rPr>
              <a:t>•  Detailed alert payloads: </a:t>
            </a:r>
            <a:r>
              <a:rPr b="0" sz="1200">
                <a:solidFill>
                  <a:srgbClr val="94A3B8"/>
                </a:solidFill>
                <a:latin typeface="Arial"/>
              </a:rPr>
              <a:t>Webhook message specifies target Git path, scan identifier, critical vulnerabilities count, and direct report link.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645920"/>
            <a:ext cx="5029200" cy="4114800"/>
          </a:xfrm>
          <a:prstGeom prst="rect">
            <a:avLst/>
          </a:prstGeom>
          <a:solidFill>
            <a:srgbClr val="0B0F19"/>
          </a:solidFill>
          <a:ln w="254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1645920"/>
            <a:ext cx="5029200" cy="411480"/>
          </a:xfrm>
          <a:prstGeom prst="rect">
            <a:avLst/>
          </a:prstGeom>
          <a:solidFill>
            <a:srgbClr val="0E15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83680" y="1760220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766560" y="1760220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949440" y="1760220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0" y="16687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94A3B8"/>
                </a:solidFill>
                <a:latin typeface="Courier New"/>
              </a:defRPr>
            </a:pPr>
            <a:r>
              <a:t>slack_payload_template.json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194560"/>
            <a:ext cx="274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50" b="0" i="0">
                <a:solidFill>
                  <a:srgbClr val="475569"/>
                </a:solidFill>
                <a:latin typeface="Courier New"/>
              </a:defRPr>
            </a:pPr>
            <a:r>
              <a:t>1</a:t>
            </a:r>
            <a:br/>
            <a:r>
              <a:t>2</a:t>
            </a:r>
            <a:br/>
            <a:r>
              <a:t>3</a:t>
            </a:r>
            <a:br/>
            <a:r>
              <a:t>4</a:t>
            </a:r>
            <a:br/>
            <a:r>
              <a:t>5</a:t>
            </a:r>
            <a:br/>
            <a:r>
              <a:t>6</a:t>
            </a:r>
            <a:br/>
            <a:r>
              <a:t>7</a:t>
            </a:r>
            <a:br/>
            <a:r>
              <a:t>8</a:t>
            </a:r>
            <a:br/>
            <a:r>
              <a:t>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19456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94A3B8"/>
                </a:solidFill>
                <a:latin typeface="Courier New"/>
              </a:defRPr>
            </a:pPr>
            <a:r>
              <a:t>{</a:t>
            </a:r>
            <a:br/>
            <a:r>
              <a:t>  "text": "🚨 *SovaScan Security Alert*\n🛡️ *RBI CSF &amp; PCI-DSS Audit Status*\n\n*Target:* `git://github.com/company/repo`\n*Critical Vulnerabilities:* `4`\n*High Vulnerabilities:* `12`\n🔗 &lt;https://sovascan.internal/report/9c1a|View Audit Report&gt;"</a:t>
            </a:r>
            <a:br/>
            <a:r>
              <a:t>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SOVASCAN  |  Regulatory Code Compliance Platform  |  Continuous Auditing Solution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4577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20095" y="0"/>
            <a:ext cx="1371600" cy="2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2600"/>
            <a:ext cx="1371600" cy="25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The Tech Stack &amp; Live Demo Walkthrough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64592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Open-source foundations powering the SovaScan audit portal and demo timeline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120640" cy="3931920"/>
          </a:xfrm>
          <a:prstGeom prst="rect">
            <a:avLst/>
          </a:prstGeom>
          <a:solidFill>
            <a:srgbClr val="0E1527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5120640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7729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Arial"/>
              </a:defRPr>
            </a:pPr>
            <a:r>
              <a:t>CORE TECHNOLOGY 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14884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</a:pPr>
            <a:r>
              <a:rPr b="1" sz="1300">
                <a:solidFill>
                  <a:srgbClr val="3B82F6"/>
                </a:solidFill>
                <a:latin typeface="Arial"/>
              </a:rPr>
              <a:t>•  React 18 &amp; TypeScript: </a:t>
            </a:r>
            <a:r>
              <a:rPr b="0" sz="1200">
                <a:solidFill>
                  <a:srgbClr val="94A3B8"/>
                </a:solidFill>
                <a:latin typeface="Arial"/>
              </a:rPr>
              <a:t>Powers the type-safe component dashboard web layout.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3B82F6"/>
                </a:solidFill>
                <a:latin typeface="Arial"/>
              </a:rPr>
              <a:t>•  Zustand State Store: </a:t>
            </a:r>
            <a:r>
              <a:rPr b="0" sz="1200">
                <a:solidFill>
                  <a:srgbClr val="94A3B8"/>
                </a:solidFill>
                <a:latin typeface="Arial"/>
              </a:rPr>
              <a:t>Lightweight client-side data state caching and action pipelines.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3B82F6"/>
                </a:solidFill>
                <a:latin typeface="Arial"/>
              </a:rPr>
              <a:t>•  FastAPI Async Web Framework: </a:t>
            </a:r>
            <a:r>
              <a:rPr b="0" sz="1200">
                <a:solidFill>
                  <a:srgbClr val="94A3B8"/>
                </a:solidFill>
                <a:latin typeface="Arial"/>
              </a:rPr>
              <a:t>Asynchronous HTTP backend routing and swift API key validations.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3B82F6"/>
                </a:solidFill>
                <a:latin typeface="Arial"/>
              </a:rPr>
              <a:t>•  Bandit &amp; Semgrep SAST: </a:t>
            </a:r>
            <a:r>
              <a:rPr b="0" sz="1200">
                <a:solidFill>
                  <a:srgbClr val="94A3B8"/>
                </a:solidFill>
                <a:latin typeface="Arial"/>
              </a:rPr>
              <a:t>Source code AST static checkers run in isolated subprocess channels.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645920"/>
            <a:ext cx="5120640" cy="3931920"/>
          </a:xfrm>
          <a:prstGeom prst="rect">
            <a:avLst/>
          </a:prstGeom>
          <a:solidFill>
            <a:srgbClr val="0E1527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645920"/>
            <a:ext cx="5120640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17729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Arial"/>
              </a:defRPr>
            </a:pPr>
            <a:r>
              <a:t>LIVE DEMO WALKTHROUGH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14884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</a:pPr>
            <a:r>
              <a:rPr b="1" sz="1300">
                <a:solidFill>
                  <a:srgbClr val="6366F1"/>
                </a:solidFill>
                <a:latin typeface="Arial"/>
              </a:rPr>
              <a:t>•  Configure Webhooks: </a:t>
            </a:r>
            <a:r>
              <a:rPr b="0" sz="1200">
                <a:solidFill>
                  <a:srgbClr val="94A3B8"/>
                </a:solidFill>
                <a:latin typeface="Arial"/>
              </a:rPr>
              <a:t>Paste diagnostic webhook URL in settings and trigger 'Test Webhook Alert'.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6366F1"/>
                </a:solidFill>
                <a:latin typeface="Arial"/>
              </a:rPr>
              <a:t>•  Scan Git Repository Target: </a:t>
            </a:r>
            <a:r>
              <a:rPr b="0" sz="1200">
                <a:solidFill>
                  <a:srgbClr val="94A3B8"/>
                </a:solidFill>
                <a:latin typeface="Arial"/>
              </a:rPr>
              <a:t>Input target repository URL, start scan, and watch progress updates live.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6366F1"/>
                </a:solidFill>
                <a:latin typeface="Arial"/>
              </a:rPr>
              <a:t>•  Audit &amp; Remediate Controls: </a:t>
            </a:r>
            <a:r>
              <a:rPr b="0" sz="1200">
                <a:solidFill>
                  <a:srgbClr val="94A3B8"/>
                </a:solidFill>
                <a:latin typeface="Arial"/>
              </a:rPr>
              <a:t>Map scan onto NIST-CSF controls. Apply 'Auto-Fix', write ledger justification, and verify compliance score increase.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6366F1"/>
                </a:solidFill>
                <a:latin typeface="Arial"/>
              </a:rPr>
              <a:t>•  Audit Trail &amp; CLI: </a:t>
            </a:r>
            <a:r>
              <a:rPr b="0" sz="1200">
                <a:solidFill>
                  <a:srgbClr val="94A3B8"/>
                </a:solidFill>
                <a:latin typeface="Arial"/>
              </a:rPr>
              <a:t>Verify persistent ledger logs. Demonstrate terminal CLI checks and CycloneDX SBOM exports.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SOVASCAN  |  Regulatory Code Compliance Platform  |  Continuous Auditing 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4577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20095" y="0"/>
            <a:ext cx="1371600" cy="2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32600"/>
            <a:ext cx="1371600" cy="25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6366F1"/>
                </a:solidFill>
                <a:latin typeface="Arial"/>
              </a:defRPr>
            </a:pPr>
            <a:r>
              <a:t>THE CONTINUOUS CODE AUDIT MANDATE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1">
                <a:solidFill>
                  <a:srgbClr val="FFFFFF"/>
                </a:solidFill>
                <a:latin typeface="Arial"/>
              </a:defRPr>
            </a:pPr>
            <a:r>
              <a:t>"The next leaked banking credential is sitting in a Git commit right now."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94A3B8"/>
                </a:solidFill>
                <a:latin typeface="Arial"/>
              </a:defRPr>
            </a:pPr>
            <a:r>
              <a:t>The only question is who finds it first -- an attacker, or a continuous code compliance tool like SovaScan.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297680"/>
            <a:ext cx="4572000" cy="1905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572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Arial"/>
              </a:defRPr>
            </a:pPr>
            <a:r>
              <a:t>Presented by: Team Verstappen Paglus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937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94A3B8"/>
                </a:solidFill>
                <a:latin typeface="Arial"/>
              </a:defRPr>
            </a:pPr>
            <a:r>
              <a:t>🌐 github.com/abhinavsingh2403/SovaScan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303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475569"/>
                </a:solidFill>
                <a:latin typeface="Arial"/>
              </a:defRPr>
            </a:pPr>
            <a:r>
              <a:t>🛡️ Deployable On-Premises (Zero-Trust Data Policy)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1371600"/>
            <a:ext cx="4846320" cy="4297680"/>
          </a:xfrm>
          <a:prstGeom prst="rect">
            <a:avLst/>
          </a:prstGeom>
          <a:solidFill>
            <a:srgbClr val="0E1527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0" y="1371600"/>
            <a:ext cx="4846320" cy="50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0" y="152400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Arial"/>
              </a:defRPr>
            </a:pPr>
            <a:r>
              <a:t>CHOOSE OUR TECHNICAL DEEP-DIVE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187452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94A3B8"/>
                </a:solidFill>
                <a:latin typeface="Arial"/>
              </a:defRPr>
            </a:pPr>
            <a:r>
              <a:t>Pick a topic and we will go deep for 60 seconds: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49440" y="2377440"/>
            <a:ext cx="4114800" cy="914400"/>
          </a:xfrm>
          <a:prstGeom prst="roundRect">
            <a:avLst/>
          </a:prstGeom>
          <a:solidFill>
            <a:srgbClr val="060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0" y="2428240"/>
            <a:ext cx="3749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 i="0">
                <a:solidFill>
                  <a:srgbClr val="8B5CF6"/>
                </a:solidFill>
                <a:latin typeface="Arial"/>
              </a:defRPr>
            </a:pPr>
            <a:r>
              <a:t>1. Shannon Entropy Detection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2651760"/>
            <a:ext cx="3749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94A3B8"/>
                </a:solidFill>
                <a:latin typeface="Arial"/>
              </a:defRPr>
            </a:pPr>
            <a:r>
              <a:t>How our custom algorithms detect passwords and credentials in configuration structures with zero database signatures.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49440" y="3383280"/>
            <a:ext cx="4114800" cy="914400"/>
          </a:xfrm>
          <a:prstGeom prst="roundRect">
            <a:avLst/>
          </a:prstGeom>
          <a:solidFill>
            <a:srgbClr val="060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0" y="3434080"/>
            <a:ext cx="3749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 i="0">
                <a:solidFill>
                  <a:srgbClr val="8B5CF6"/>
                </a:solidFill>
                <a:latin typeface="Arial"/>
              </a:defRPr>
            </a:pPr>
            <a:r>
              <a:t>2. Outbound SSRF Resolution Gates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3657600"/>
            <a:ext cx="3749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94A3B8"/>
                </a:solidFill>
                <a:latin typeface="Arial"/>
              </a:defRPr>
            </a:pPr>
            <a:r>
              <a:t>How our socket DNS resolver blocks link-local addresses, loopbacks, and cloud metadata queries at the gateway level.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49440" y="4389120"/>
            <a:ext cx="4114800" cy="914400"/>
          </a:xfrm>
          <a:prstGeom prst="roundRect">
            <a:avLst/>
          </a:prstGeom>
          <a:solidFill>
            <a:srgbClr val="060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0" y="4439920"/>
            <a:ext cx="3749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 i="0">
                <a:solidFill>
                  <a:srgbClr val="8B5CF6"/>
                </a:solidFill>
                <a:latin typeface="Arial"/>
              </a:defRPr>
            </a:pPr>
            <a:r>
              <a:t>3. Hashed API Key Verification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4663440"/>
            <a:ext cx="3749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94A3B8"/>
                </a:solidFill>
                <a:latin typeface="Arial"/>
              </a:defRPr>
            </a:pPr>
            <a:r>
              <a:t>How SovaScan protects server configurations using SHA-256 salted hashes on incoming X-API-Key request headers.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SOVASCAN  |  Regulatory Code Compliance Platform  |  Continuous Auditing Solution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4577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