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554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FFFFFF"/>
                </a:solidFill>
                <a:latin typeface="Arial"/>
              </a:defRPr>
            </a:pPr>
            <a:r>
              <a:t>SovaScan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377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Intelligent Vulnerability, Configuration &amp; Secret Security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8346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Arial"/>
              </a:defRPr>
            </a:pPr>
            <a:r>
              <a:t>Tailored for Regulatory Compliance in Financial and Banking Codebases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023360"/>
            <a:ext cx="502920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2976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🏆 National Hackathon 2026  |  UCO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709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Designed for CISO Security Gates &amp; Continuous Code Audits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120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Presented by: Team SovaScan (Abhinav Singh &amp; Team)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Operational challenges &amp; compliance risks in banking security audits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Banking security audits face major bottlenecks: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Manual &amp; Infrequent Audits: </a:t>
            </a:r>
            <a:r>
              <a:rPr b="0" sz="1200">
                <a:solidFill>
                  <a:srgbClr val="F1F5F9"/>
                </a:solidFill>
                <a:latin typeface="Arial"/>
              </a:rPr>
              <a:t>SecOps runs manual codebase reviews only once or twice a year, leaving vulnerabilities active in production for months.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Exposed Secrets &amp; Keys: </a:t>
            </a:r>
            <a:r>
              <a:rPr b="0" sz="1200">
                <a:solidFill>
                  <a:srgbClr val="F1F5F9"/>
                </a:solidFill>
                <a:latin typeface="Arial"/>
              </a:rPr>
              <a:t>APIs, encryption credentials, and DB strings are frequently leaked in git commits. Traditional code scanning tools lack high-entropy detection.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Spreadsheet compliance tracking: </a:t>
            </a:r>
            <a:r>
              <a:rPr b="0" sz="1200">
                <a:solidFill>
                  <a:srgbClr val="F1F5F9"/>
                </a:solidFill>
                <a:latin typeface="Arial"/>
              </a:rPr>
              <a:t>Framework compliance checks (RBI Cyber Security, NIST-CSF, SOC-2) are tracked manually in static sheets rather than mapping live to code status.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No remediation loops: </a:t>
            </a:r>
            <a:r>
              <a:rPr b="0" sz="1200">
                <a:solidFill>
                  <a:srgbClr val="F1F5F9"/>
                </a:solidFill>
                <a:latin typeface="Arial"/>
              </a:rPr>
              <a:t>Identifying errors is easy, but security analysts lack instant validation systems to apply fixes and log justification audits simultaneously.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1116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FINANCIAL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EF4444"/>
                </a:solidFill>
                <a:latin typeface="Arial"/>
              </a:defRPr>
            </a:pPr>
            <a:r>
              <a:t>250+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611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Average time to identify a secret leak in enterprise repository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EF4444"/>
                </a:solidFill>
                <a:latin typeface="Arial"/>
              </a:defRPr>
            </a:pPr>
            <a:r>
              <a:t>$4.3M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616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Average global cost of data breaches in banking &amp; financial infrastructures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EF4444"/>
                </a:solidFill>
                <a:latin typeface="Arial"/>
              </a:defRPr>
            </a:pPr>
            <a:r>
              <a:t>Non-Compliance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622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Heavy penalties by RBI for lacking continuous vulnerability assessment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SovaScan: 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Automated multi-vector scanning and live regulatory compliance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SovaScan secures banking codebases: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Continuous Scan Pipelines: </a:t>
            </a:r>
            <a:r>
              <a:rPr b="0" sz="1200">
                <a:solidFill>
                  <a:srgbClr val="F1F5F9"/>
                </a:solidFill>
                <a:latin typeface="Arial"/>
              </a:rPr>
              <a:t>Runs automated multi-vector scanning covering dependencies, secret detection, SAST, git history, and configs.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Live Compliance Mapping: </a:t>
            </a:r>
            <a:r>
              <a:rPr b="0" sz="1200">
                <a:solidFill>
                  <a:srgbClr val="F1F5F9"/>
                </a:solidFill>
                <a:latin typeface="Arial"/>
              </a:rPr>
              <a:t>Translates raw CVEs and vulnerabilities directly into passing/failing control checklists for RBI, NIST, and SOC-2.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One-Click Remediations: </a:t>
            </a:r>
            <a:r>
              <a:rPr b="0" sz="1200">
                <a:solidFill>
                  <a:srgbClr val="F1F5F9"/>
                </a:solidFill>
                <a:latin typeface="Arial"/>
              </a:rPr>
              <a:t>Security operators can apply auto-fixes and roll back changes instantly, directly inside the dashboard panel.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Persistent Audit Ledger: </a:t>
            </a:r>
            <a:r>
              <a:rPr b="0" sz="1200">
                <a:solidFill>
                  <a:srgbClr val="F1F5F9"/>
                </a:solidFill>
                <a:latin typeface="Arial"/>
              </a:rPr>
              <a:t>Forces developers and operators to write justifications before applying fixes, keeping an immutable ledger of all 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11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SOLUTION BENEFIT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0B981"/>
                </a:solidFill>
                <a:latin typeface="Arial"/>
              </a:defRPr>
            </a:pPr>
            <a:r>
              <a:t>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6111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Real-time vulnerability findings and automated alerts sent via WebSockets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0B981"/>
                </a:solidFill>
                <a:latin typeface="Arial"/>
              </a:defRPr>
            </a:pPr>
            <a:r>
              <a:t>100% Audit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616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Continuous dashboard shows actual compliance posture for executive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0B981"/>
                </a:solidFill>
                <a:latin typeface="Arial"/>
              </a:defRPr>
            </a:pPr>
            <a:r>
              <a:t>Closed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622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Identify, remediate, audit, and alert - all in a single integrated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High-level core component boundaries &amp; async task flow</a:t>
            </a:r>
          </a:p>
        </p:txBody>
      </p:sp>
      <p:pic>
        <p:nvPicPr>
          <p:cNvPr id="5" name="Picture 4" descr="architecture_high_level_17844911643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Architectural Pillars: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React Dashboard: </a:t>
            </a:r>
            <a:r>
              <a:rPr b="0" sz="1200">
                <a:solidFill>
                  <a:srgbClr val="F1F5F9"/>
                </a:solidFill>
                <a:latin typeface="Arial"/>
              </a:rPr>
              <a:t>State managed via lightweight, fast-loading Zustand. Recharts powers severity distribution mapping.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FastAPI Gateways: </a:t>
            </a:r>
            <a:r>
              <a:rPr b="0" sz="1200">
                <a:solidFill>
                  <a:srgbClr val="F1F5F9"/>
                </a:solidFill>
                <a:latin typeface="Arial"/>
              </a:rPr>
              <a:t>Handles secure incoming HTTP routing. Uses a custom middleware to verify hashed, active API Keys.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Background Scan Manager: </a:t>
            </a:r>
            <a:r>
              <a:rPr b="0" sz="1200">
                <a:solidFill>
                  <a:srgbClr val="F1F5F9"/>
                </a:solidFill>
                <a:latin typeface="Arial"/>
              </a:rPr>
              <a:t>Spawns subprocesses to decouple scans from request loops. WebSockets stream live feedback chunks.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Threat Intelligence: </a:t>
            </a:r>
            <a:r>
              <a:rPr b="0" sz="1200">
                <a:solidFill>
                  <a:srgbClr val="F1F5F9"/>
                </a:solidFill>
                <a:latin typeface="Arial"/>
              </a:rPr>
              <a:t>Retrieves upstream vulnerabilities on-demand from OSV and maps them locally into cached SQLite structures.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Scan Execution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Low-level task lifecycle and API/worker transaction flow</a:t>
            </a:r>
          </a:p>
        </p:txBody>
      </p:sp>
      <p:pic>
        <p:nvPicPr>
          <p:cNvPr id="5" name="Picture 4" descr="scan_pipeline_flow_17844911810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8580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Scanning Lifecycle: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8B5CF6"/>
                </a:solidFill>
                <a:latin typeface="Arial"/>
              </a:rPr>
              <a:t>•  1. Request Dispatch: </a:t>
            </a:r>
            <a:r>
              <a:rPr b="0" sz="1200">
                <a:solidFill>
                  <a:srgbClr val="F1F5F9"/>
                </a:solidFill>
                <a:latin typeface="Arial"/>
              </a:rPr>
              <a:t>Frontend sends POST /scan payload. Router validates API key and target scheme, replying instantly with 202 Accepted.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8B5CF6"/>
                </a:solidFill>
                <a:latin typeface="Arial"/>
              </a:rPr>
              <a:t>•  2. Async Execution: </a:t>
            </a:r>
            <a:r>
              <a:rPr b="0" sz="1200">
                <a:solidFill>
                  <a:srgbClr val="F1F5F9"/>
                </a:solidFill>
                <a:latin typeface="Arial"/>
              </a:rPr>
              <a:t>Orchestrator clones target Git repo to secure, temporary directories, running isolated vector sub-scanners.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8B5CF6"/>
                </a:solidFill>
                <a:latin typeface="Arial"/>
              </a:rPr>
              <a:t>•  3. Normalization &amp; Save: </a:t>
            </a:r>
            <a:r>
              <a:rPr b="0" sz="1200">
                <a:solidFill>
                  <a:srgbClr val="F1F5F9"/>
                </a:solidFill>
                <a:latin typeface="Arial"/>
              </a:rPr>
              <a:t>Raw outputs are scored dynamically, persisted to SQLite, and temp clones are completely purged.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8B5CF6"/>
                </a:solidFill>
                <a:latin typeface="Arial"/>
              </a:rPr>
              <a:t>•  4. Real-time broadcast: </a:t>
            </a:r>
            <a:r>
              <a:rPr b="0" sz="1200">
                <a:solidFill>
                  <a:srgbClr val="F1F5F9"/>
                </a:solidFill>
                <a:latin typeface="Arial"/>
              </a:rPr>
              <a:t>Completion details and vulnerability counts are broadcast instantly over WebSockets to dashboards.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Multi-Vector Scanning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Parallel code audit layers checking for complex vulnerabilities</a:t>
            </a:r>
          </a:p>
        </p:txBody>
      </p:sp>
      <p:pic>
        <p:nvPicPr>
          <p:cNvPr id="5" name="Picture 4" descr="scanning_engine_17844912473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How SovaScan Audits Code: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Dependency Analysis: </a:t>
            </a:r>
            <a:r>
              <a:rPr b="0" sz="1200">
                <a:solidFill>
                  <a:srgbClr val="F1F5F9"/>
                </a:solidFill>
                <a:latin typeface="Arial"/>
              </a:rPr>
              <a:t>Extracts package manifests (package.json, requirements.txt, pom.xml) and runs CVE audits via upstream OSV API.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Secret Detection: </a:t>
            </a:r>
            <a:r>
              <a:rPr b="0" sz="1200">
                <a:solidFill>
                  <a:srgbClr val="F1F5F9"/>
                </a:solidFill>
                <a:latin typeface="Arial"/>
              </a:rPr>
              <a:t>Executes high-entropy checks + regex signatures to find raw passwords, private keys, and API tokens.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SAST Subprocesses: </a:t>
            </a:r>
            <a:r>
              <a:rPr b="0" sz="1200">
                <a:solidFill>
                  <a:srgbClr val="F1F5F9"/>
                </a:solidFill>
                <a:latin typeface="Arial"/>
              </a:rPr>
              <a:t>Seamlessly triggers Bandit (Python AST) and Semgrep (static patterns) to look for structural vulnerabilities.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Git History Crawler: </a:t>
            </a:r>
            <a:r>
              <a:rPr b="0" sz="1200">
                <a:solidFill>
                  <a:srgbClr val="F1F5F9"/>
                </a:solidFill>
                <a:latin typeface="Arial"/>
              </a:rPr>
              <a:t>Iterates through full commit logs (git log -p) to identify historical leaks hidden in older code commits.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Regulatory Compliance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Translating code vulnerabilities directly to regulatory controls</a:t>
            </a:r>
          </a:p>
        </p:txBody>
      </p:sp>
      <p:pic>
        <p:nvPicPr>
          <p:cNvPr id="5" name="Picture 4" descr="compliance_frameworks_1784491215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4864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Supported Banking Frameworks: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59E0B"/>
                </a:solidFill>
                <a:latin typeface="Arial"/>
              </a:rPr>
              <a:t>•  NIST Cyber Security Framework: </a:t>
            </a:r>
            <a:r>
              <a:rPr b="0" sz="1200">
                <a:solidFill>
                  <a:srgbClr val="F1F5F9"/>
                </a:solidFill>
                <a:latin typeface="Arial"/>
              </a:rPr>
              <a:t>Maps code vulnerability scans onto core NIST pillars (Identify, Protect, Detect, Respond, Recover) to trace compliance.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59E0B"/>
                </a:solidFill>
                <a:latin typeface="Arial"/>
              </a:rPr>
              <a:t>•  SOC-2 Type II Trust Criteria: </a:t>
            </a:r>
            <a:r>
              <a:rPr b="0" sz="1200">
                <a:solidFill>
                  <a:srgbClr val="F1F5F9"/>
                </a:solidFill>
                <a:latin typeface="Arial"/>
              </a:rPr>
              <a:t>Secures compliance gates by auditing trust service criteria: Security, Confidentiality, and Privacy policies.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59E0B"/>
                </a:solidFill>
                <a:latin typeface="Arial"/>
              </a:rPr>
              <a:t>•  OWASP Top 10 Web Security: </a:t>
            </a:r>
            <a:r>
              <a:rPr b="0" sz="1200">
                <a:solidFill>
                  <a:srgbClr val="F1F5F9"/>
                </a:solidFill>
                <a:latin typeface="Arial"/>
              </a:rPr>
              <a:t>Links code issues directly to injection, broken authorization, secure misconfiguration, and SSRF lists.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59E0B"/>
                </a:solidFill>
                <a:latin typeface="Arial"/>
              </a:rPr>
              <a:t>•  RBI Cybersecurity Guidelines: </a:t>
            </a:r>
            <a:r>
              <a:rPr b="0" sz="1200">
                <a:solidFill>
                  <a:srgbClr val="F1F5F9"/>
                </a:solidFill>
                <a:latin typeface="Arial"/>
              </a:rPr>
              <a:t>Audits specific banking requirements: PAN masking, cryptographic algorithms, session timeouts, and encryption.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Developer &amp; Security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Full overview of SovaScan's rich analytical workspace</a:t>
            </a:r>
          </a:p>
        </p:txBody>
      </p:sp>
      <p:pic>
        <p:nvPicPr>
          <p:cNvPr id="5" name="Picture 4" descr="dashboard_mockup_17844911999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Dashboard Controls: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Posture Overview: </a:t>
            </a:r>
            <a:r>
              <a:rPr b="0" sz="1200">
                <a:solidFill>
                  <a:srgbClr val="F1F5F9"/>
                </a:solidFill>
                <a:latin typeface="Arial"/>
              </a:rPr>
              <a:t>Visualizes severity distributions, vulnerability counts, and scan trend graphs in high-contrast React charts.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Scan Execution: </a:t>
            </a:r>
            <a:r>
              <a:rPr b="0" sz="1200">
                <a:solidFill>
                  <a:srgbClr val="F1F5F9"/>
                </a:solidFill>
                <a:latin typeface="Arial"/>
              </a:rPr>
              <a:t>Operators enter target Git repositories directly. Streams execution state live via WebSockets.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Remediation Engine: </a:t>
            </a:r>
            <a:r>
              <a:rPr b="0" sz="1200">
                <a:solidFill>
                  <a:srgbClr val="F1F5F9"/>
                </a:solidFill>
                <a:latin typeface="Arial"/>
              </a:rPr>
              <a:t>Supports automated auto-fix functions directly from the findings board, including rollback configurations.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Compliance Checklists: </a:t>
            </a:r>
            <a:r>
              <a:rPr b="0" sz="1200">
                <a:solidFill>
                  <a:srgbClr val="F1F5F9"/>
                </a:solidFill>
                <a:latin typeface="Arial"/>
              </a:rPr>
              <a:t>Radial speedometer gauge displaying compliance scores, categorized controls, and requirement lists.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Security-First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Applying production-grade security gates to protect internal banking APIs</a:t>
            </a:r>
          </a:p>
        </p:txBody>
      </p:sp>
      <p:pic>
        <p:nvPicPr>
          <p:cNvPr id="5" name="Picture 4" descr="security_shield_17844912319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4864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SovaScan Security Gates: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Full SSRF Protection: </a:t>
            </a:r>
            <a:r>
              <a:rPr b="0" sz="1200">
                <a:solidFill>
                  <a:srgbClr val="F1F5F9"/>
                </a:solidFill>
                <a:latin typeface="Arial"/>
              </a:rPr>
              <a:t>Validates incoming alert webhook URLs. Blocks loops, private IPs, and cloud metadata requests (169.254.169.254).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Secure Settings Storage: </a:t>
            </a:r>
            <a:r>
              <a:rPr b="0" sz="1200">
                <a:solidFill>
                  <a:srgbClr val="F1F5F9"/>
                </a:solidFill>
                <a:latin typeface="Arial"/>
              </a:rPr>
              <a:t>Uses dynamic, relative paths rather than absolute paths to load and save local server settings, protecting host directories.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Information Exposure Masking: </a:t>
            </a:r>
            <a:r>
              <a:rPr b="0" sz="1200">
                <a:solidFill>
                  <a:srgbClr val="F1F5F9"/>
                </a:solidFill>
                <a:latin typeface="Arial"/>
              </a:rPr>
              <a:t>Sensitive DB credentials and webhook keys are masked with asterisks before returning to Settings views.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API Key Security: </a:t>
            </a:r>
            <a:r>
              <a:rPr b="0" sz="1200">
                <a:solidFill>
                  <a:srgbClr val="F1F5F9"/>
                </a:solidFill>
                <a:latin typeface="Arial"/>
              </a:rPr>
              <a:t>Requests require custom `X-API-Key` headers. Stored keys are encrypted locally using SHA-256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Real-Time Webhook Alerting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Live diagnostic triggers and external alert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Secure Alert Notifications: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Slack &amp; Teams integrations: </a:t>
            </a:r>
            <a:r>
              <a:rPr b="0" sz="1200">
                <a:solidFill>
                  <a:srgbClr val="F1F5F9"/>
                </a:solidFill>
                <a:latin typeface="Arial"/>
              </a:rPr>
              <a:t>Sends structured Slack markdown alert messages immediately upon scan completion to designated webhook URLs.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Instant Diagnostic testing: </a:t>
            </a:r>
            <a:r>
              <a:rPr b="0" sz="1200">
                <a:solidFill>
                  <a:srgbClr val="F1F5F9"/>
                </a:solidFill>
                <a:latin typeface="Arial"/>
              </a:rPr>
              <a:t>Features a dedicated '⚡ Test Webhook Alert' button in the frontend Settings page to verify delivery parameters.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Detailed alert payloads: </a:t>
            </a:r>
            <a:r>
              <a:rPr b="0" sz="1200">
                <a:solidFill>
                  <a:srgbClr val="F1F5F9"/>
                </a:solidFill>
                <a:latin typeface="Arial"/>
              </a:rPr>
              <a:t>Webhook message specifies target Git path, scan identifier, critical vulnerabilities count, and direct report link.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SSRF validation gate: </a:t>
            </a:r>
            <a:r>
              <a:rPr b="0" sz="1200">
                <a:solidFill>
                  <a:srgbClr val="F1F5F9"/>
                </a:solidFill>
                <a:latin typeface="Arial"/>
              </a:rPr>
              <a:t>Validates scheme/host parameters in outbound requests dynamically before dispatching HTTP payloads.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1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920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SLACK ALERT JSON PAYLOAD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297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{</a:t>
            </a:r>
            <a:br/>
            <a:r>
              <a:t>  "text": "🚨 *SovaScan Security Alert*\n🛡️ *RBI CSF &amp; PCI-DSS Audit Status*\n\n*Target:* `git://github.com/company/repo`\n*Critical Vulnerabilities:* `4`\n*High Vulnerabilities:* `12`\n🔗 &lt;http://localhost:8000/report/9c1a|View Audit Report&gt;"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Core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Open-source foundations powering the SovaScan audit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FRONTEND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React 18 &amp;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Type-safe component dashboard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Zustand State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Frictionless global state stores with client caching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Recharts Visualizer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Dynamic SVG gauges and vulnerability distributions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Vite Bundler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Custom rollup configuration with node-module chunking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1645920"/>
            <a:ext cx="33832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BACKEND 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2860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22860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FastAPI Async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Asynchronous HTTP backend routing and API key filters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32004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32004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SQLAlchemy 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Object-relational mapping models with SQLite connections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41148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41148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Pydantic v2 Schemas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Strict input serialization and payload type validations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50292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50292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Click &amp; Rich CLI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Command line scanning tools printing colorized reports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1645920"/>
            <a:ext cx="3383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SECURITY &amp; DEV-OPS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22860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22860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OSV Vulnerability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Continuous CVE databases queryable via API vectors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32004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32004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275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Docker &amp; Compose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275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Multi-container build parameters and network environments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41148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38160" y="41148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0275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Bandit &amp; Semgrep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Source static analysis libraries run as subprocesses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5029200"/>
            <a:ext cx="3383280" cy="777240"/>
          </a:xfrm>
          <a:prstGeom prst="rect">
            <a:avLst/>
          </a:prstGeom>
          <a:solidFill>
            <a:srgbClr val="11162C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38160" y="50292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0275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GitHub Actions CI/CD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275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Automated code integration checkpoints and testing workflows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Live Demo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Step-by-step walkthrough demonstrating SovaScan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2011680"/>
          </a:xfrm>
          <a:prstGeom prst="rect">
            <a:avLst/>
          </a:prstGeom>
          <a:solidFill>
            <a:srgbClr val="11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Arial"/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Configure &amp; Test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Open settings. Paste webhook.site diagnostic webhook URL and trigger 'Test Webhook Alert' to demonstrate outbound JSON traffic.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3383280" cy="2011680"/>
          </a:xfrm>
          <a:prstGeom prst="rect">
            <a:avLst/>
          </a:prstGeom>
          <a:solidFill>
            <a:srgbClr val="11162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Scan Target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Input the target Git repository. Trigger scan and show real-time WebSocket progress bars detailing SAST / secrets check phases.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383280" cy="2011680"/>
          </a:xfrm>
          <a:prstGeom prst="rect">
            <a:avLst/>
          </a:prstGeom>
          <a:solidFill>
            <a:srgbClr val="11162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9E0B"/>
                </a:solidFill>
                <a:latin typeface="Arial"/>
              </a:defRPr>
            </a:pPr>
            <a: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Review Compliance Scores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Examine NIST-CSF, SOC-2, and OWASP-10 frameworks checking failed compliance controls and violation lists.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3383280" cy="2011680"/>
          </a:xfrm>
          <a:prstGeom prst="rect">
            <a:avLst/>
          </a:prstGeom>
          <a:solidFill>
            <a:srgbClr val="11162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3383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Remediate Vulnerability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Locate a vulnerable item, execute 'Auto-Fix', write operators' justification ledger, and watch compliance scores rise.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931920"/>
            <a:ext cx="3383280" cy="2011680"/>
          </a:xfrm>
          <a:prstGeom prst="rect">
            <a:avLst/>
          </a:prstGeom>
          <a:solidFill>
            <a:srgbClr val="11162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931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t>STAGE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Immutable Audit Ledger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Visit Profile page. Display the persistent SQLite log detailing the timestamped fix action and security reason.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931920"/>
            <a:ext cx="3383280" cy="2011680"/>
          </a:xfrm>
          <a:prstGeom prst="rect">
            <a:avLst/>
          </a:prstGeom>
          <a:solidFill>
            <a:srgbClr val="1116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93192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F4444"/>
                </a:solidFill>
                <a:latin typeface="Arial"/>
              </a:defRPr>
            </a:pPr>
            <a:r>
              <a:t>STAGE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CLI Scan &amp; SBOM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Demonstrate CLI tool: run 'sovascan scan' inside terminal to export interactive HTML scan reports and CycloneDX SBOMs.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548640"/>
            <a:ext cx="22860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175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794760"/>
            <a:ext cx="2743200" cy="317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6366F1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1F5F9"/>
                </a:solidFill>
                <a:latin typeface="Arial"/>
              </a:defRPr>
            </a:pPr>
            <a:r>
              <a:t>🌐 Project Repository:  github.com/abhinavsingh2403/SovaScan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  <a:latin typeface="Arial"/>
              </a:defRPr>
            </a:pPr>
            <a:r>
              <a:t>💻 Local Dashboard Endpoint:  http://localhost:8000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Designed for Enterprise Code Governance &amp; Regulatory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🦉 SOVASCAN | UCO BANK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