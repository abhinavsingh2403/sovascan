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6366F1"/>
                </a:solidFill>
                <a:latin typeface="Arial"/>
              </a:defRPr>
            </a:pPr>
            <a:r>
              <a:t>THE REALITY OF BANKING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1">
                <a:solidFill>
                  <a:srgbClr val="FFFFFF"/>
                </a:solidFill>
                <a:latin typeface="Arial"/>
              </a:defRPr>
            </a:pPr>
            <a:r>
              <a:t>"Last week, a bank developer committed a production database password to a public repository.</a:t>
            </a:r>
            <a:br/>
            <a:r>
              <a:t>It sat live, exposed to the internet, for 6 hours before anyone noticed."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Manual audits are too slow. Static spreadsheets fail. Credit data leaks in seconds.</a:t>
            </a:r>
            <a:br/>
            <a:r>
              <a:t>How does a SecOps team stay ahead of the risk?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vascan_owl_logo_1784490469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0" y="1554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FFFFFF"/>
                </a:solidFill>
                <a:latin typeface="Arial"/>
              </a:defRPr>
            </a:pPr>
            <a:r>
              <a:t>SovaScan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377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  <a:latin typeface="Arial"/>
              </a:defRPr>
            </a:pPr>
            <a:r>
              <a:t>Intelligent Vulnerability, Configuration &amp; Secret Security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8346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Arial"/>
              </a:defRPr>
            </a:pPr>
            <a:r>
              <a:t>Tailored for Continuous Regulatory Auditing and Automated Remediation in Banking Codebases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114800"/>
            <a:ext cx="5029200" cy="25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3891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9E0B"/>
                </a:solidFill>
                <a:latin typeface="Arial"/>
              </a:defRPr>
            </a:pPr>
            <a:r>
              <a:t>National Hackathon 2026  |  UCO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8006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Designed for Continuous CISO Security Gates &amp; Active Auditing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212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Arial"/>
              </a:defRPr>
            </a:pPr>
            <a:r>
              <a:t>Presented by: Team Verstappen Paglus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Daily Threat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The reality of managing code security audits at a scale of 100+ active repositories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Priya's primary bottlenecks as a SecOps engineer: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Lagging Security Visibility: </a:t>
            </a:r>
            <a:r>
              <a:rPr b="0" sz="1200">
                <a:solidFill>
                  <a:srgbClr val="94A3B8"/>
                </a:solidFill>
                <a:latin typeface="Arial"/>
              </a:rPr>
              <a:t>Compliance audits are run manually twice a year. Between audits, developers commit code containing vulnerabilities undetected.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Undetected Leaks in Repos: </a:t>
            </a:r>
            <a:r>
              <a:rPr b="0" sz="1200">
                <a:solidFill>
                  <a:srgbClr val="94A3B8"/>
                </a:solidFill>
                <a:latin typeface="Arial"/>
              </a:rPr>
              <a:t>Database credentials and API key hashes are committed in local configurations. Generic scanners miss complex secret patterns.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Disconnected Compliance Docs: </a:t>
            </a:r>
            <a:r>
              <a:rPr b="0" sz="1200">
                <a:solidFill>
                  <a:srgbClr val="94A3B8"/>
                </a:solidFill>
                <a:latin typeface="Arial"/>
              </a:rPr>
              <a:t>RBI guidelines and SOC-2 trust criteria are tracked in spreadsheets, disjointed from actual code status.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THE FINANCIAL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277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Average time required to identify and resolve key leaks in large-scale repositories.</a:t>
            </a:r>
            <a:br/>
            <a:r>
              <a:t>Source: IBM Cost of a Data Breach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$4.5M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79476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Average global cost of data breaches in banking and financial configurations.</a:t>
            </a:r>
            <a:br/>
            <a:r>
              <a:t>Source: IBM Cost of a Data Breach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Regulatory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98348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Heavy penalties by RBI for lacking continuous vulnerability assessment systems.</a:t>
            </a:r>
            <a:br/>
            <a:r>
              <a:t>Source: RBI Cybersecurity Guidelines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Securing Priya's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Automated multi-vector scanning and live regulatory compliance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How SovaScan streamlines Priya's dashboard audits: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Continuous Scan Pipelines: </a:t>
            </a:r>
            <a:r>
              <a:rPr b="0" sz="1200">
                <a:solidFill>
                  <a:srgbClr val="94A3B8"/>
                </a:solidFill>
                <a:latin typeface="Arial"/>
              </a:rPr>
              <a:t>Runs automated multi-vector scanning covering dependencies, secret detection, SAST, git history, and configs.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Live Compliance Mapping: </a:t>
            </a:r>
            <a:r>
              <a:rPr b="0" sz="1200">
                <a:solidFill>
                  <a:srgbClr val="94A3B8"/>
                </a:solidFill>
                <a:latin typeface="Arial"/>
              </a:rPr>
              <a:t>Translates raw CVEs and vulnerabilities directly into passing/failing control checklists for RBI, NIST, and SOC-2.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One-Click Remediations: </a:t>
            </a:r>
            <a:r>
              <a:rPr b="0" sz="1200">
                <a:solidFill>
                  <a:srgbClr val="94A3B8"/>
                </a:solidFill>
                <a:latin typeface="Arial"/>
              </a:rPr>
              <a:t>Priya can apply auto-fixes and roll back changes instantly, directly inside the dashboard panel.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THE SOLUTION BENEFIT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Real-Time WebSocket Warnings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Vulnerability findings and automated alerts sent in seconds upon scan completion.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100% Audit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Continuous dashboard shows actual compliance posture for executive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Closed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983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Identify, remediate, audit, and alert - all in a single integrated workflow.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Core components and data relationships flowchart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5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Dashboard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React 18 / Zustand</a:t>
            </a:r>
            <a:br/>
            <a:r>
              <a:t>Recharts SVG Gauges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91840" y="2807208"/>
            <a:ext cx="54864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31920" y="23774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45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API Router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FastAPI Router</a:t>
            </a:r>
            <a:br/>
            <a:r>
              <a:t>API Key Verification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492240" y="2468880"/>
            <a:ext cx="548640" cy="22860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5052060" y="3566160"/>
            <a:ext cx="228600" cy="365760"/>
          </a:xfrm>
          <a:prstGeom prst="down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0" y="402336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4099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Alert Dispatcher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Slack / Teams Alerting</a:t>
            </a:r>
            <a:br/>
            <a:r>
              <a:t>(Outbound SSRF Safe)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64592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722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Scan Orchestrator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011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ScanManager Task Runner</a:t>
            </a:r>
            <a:br/>
            <a:r>
              <a:t>Real-time WebSockets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252460" y="2834640"/>
            <a:ext cx="228600" cy="36576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0" y="32918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3368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Multi-Vector Scanners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657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SAST / Secrets / Deps</a:t>
            </a:r>
            <a:br/>
            <a:r>
              <a:t>Git History Crawler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692640" y="3721608"/>
            <a:ext cx="548640" cy="2286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8252460" y="4480560"/>
            <a:ext cx="228600" cy="36576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32720" y="3291840"/>
            <a:ext cx="20116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3368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SQLite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3657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sovascan.db</a:t>
            </a:r>
            <a:br/>
            <a:r>
              <a:t>Audit Log Ledger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493776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5013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Threat Intel Feeds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303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OSV API / CVE Feeds</a:t>
            </a:r>
            <a:br/>
            <a:r>
              <a:t>CISA KEV / EPSS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1">
                <a:solidFill>
                  <a:srgbClr val="94A3B8"/>
                </a:solidFill>
                <a:latin typeface="Arial"/>
              </a:defRPr>
            </a:pPr>
            <a:r>
              <a:t>⚡ Data Flow: Dashboard requests trigger secure APIs. The Gateway schedules task workers via ScanManager, audits threat parameters, updates SQLite states, dispatches Slack notifications, and streams progress alerts.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Scan Execution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Low-level task lifecycle and API/worker transaction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1.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User POSTs Git URL + key credentials to /api/v1/scan API route.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46120" y="2286000"/>
            <a:ext cx="320040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2. 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Router checks auth state, writes PENDING to DB, and returns a 202 ID.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26480" y="2286000"/>
            <a:ext cx="320040" cy="18288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645920"/>
            <a:ext cx="24688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6366F1"/>
                </a:solidFill>
                <a:latin typeface="Arial"/>
              </a:defRPr>
            </a:pPr>
            <a:r>
              <a:t>3. 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ScanManager schedules worker task, decoupling scan from HTTP threads.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006840" y="2286000"/>
            <a:ext cx="320040" cy="18288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72600" y="1645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4. CLONE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Worker spawns secure temporary clones of target Git directories.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0492740" y="3383280"/>
            <a:ext cx="228600" cy="45720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7260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72600" y="3931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5. EXECUTE AUDITS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Runs parallel vector checks: SAST, secrets, CVEs, git history, configs.</a:t>
            </a:r>
          </a:p>
        </p:txBody>
      </p:sp>
      <p:sp>
        <p:nvSpPr>
          <p:cNvPr id="31" name="Left Arrow 30"/>
          <p:cNvSpPr/>
          <p:nvPr/>
        </p:nvSpPr>
        <p:spPr>
          <a:xfrm>
            <a:off x="9006840" y="4572000"/>
            <a:ext cx="320040" cy="182880"/>
          </a:xfrm>
          <a:prstGeom prst="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3931920"/>
            <a:ext cx="24688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9E0B"/>
                </a:solidFill>
                <a:latin typeface="Arial"/>
              </a:defRPr>
            </a:pPr>
            <a:r>
              <a:t>6. COMPLIANCE MAPPING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Applies scoring modifiers and correlates issues to RBI/NIST controls.</a:t>
            </a:r>
          </a:p>
        </p:txBody>
      </p:sp>
      <p:sp>
        <p:nvSpPr>
          <p:cNvPr id="36" name="Left Arrow 35"/>
          <p:cNvSpPr/>
          <p:nvPr/>
        </p:nvSpPr>
        <p:spPr>
          <a:xfrm>
            <a:off x="6126480" y="4572000"/>
            <a:ext cx="320040" cy="18288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1188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11880" y="3931920"/>
            <a:ext cx="24688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476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7. WRITE DETAILS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Persists findings, exports SBOM list, dispatches notifications.</a:t>
            </a:r>
          </a:p>
        </p:txBody>
      </p:sp>
      <p:sp>
        <p:nvSpPr>
          <p:cNvPr id="41" name="Left Arrow 40"/>
          <p:cNvSpPr/>
          <p:nvPr/>
        </p:nvSpPr>
        <p:spPr>
          <a:xfrm>
            <a:off x="3246120" y="4572000"/>
            <a:ext cx="320040" cy="18288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" y="3931920"/>
            <a:ext cx="24688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8. WEBSOCKET FEED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UI receives completion events, re-indexing stats and compliance speedometer.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Multi-Vector Scanning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Parallel code audit layers checking for complex vulnerabilities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Dependency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Extracts manifest definitions (package.json, requirements.txt, pom.xml) and runs CVE assessments via OSV API integrations.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Secret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Executes high-entropy Shannon algorithm checks + regex signatures to find raw passwords, private keys, and API tokens.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Static Analysis (SAST)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Seamlessly triggers Bandit (Python AST) and Semgrep (static pattern matching) subprocesses to audit source logic.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3383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Git History Crawler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Iterates through full commit logs (git log -p) to identify historical leaks hidden in older code revisions.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840480"/>
            <a:ext cx="3383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Configuration Audits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Audits deployment configurations (Dockerfiles, Nginx configs, env scripts) for insecure defaults and CORS issues.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84048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Dynamic Context-Scoring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Applies location-aware multipliers. Modifies risk scores if vulnerability is located in production vs testing directories.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Regulatory Compliance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Translating code vulnerabilities directly to regulatory controls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NIST-CSF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National Institute of Standards &amp;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Maps code vulnerability scans onto core NIST pillars to trace posture.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3B82F6"/>
                </a:solidFill>
                <a:latin typeface="Arial"/>
              </a:defRPr>
            </a:pPr>
            <a:r>
              <a:t>Identify, Protect, Detect, Respond, Recover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1645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SOC-2 Type 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Service Organization Control Report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Secures compliance gates by auditing trust service criteria.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8B5CF6"/>
                </a:solidFill>
                <a:latin typeface="Arial"/>
              </a:defRPr>
            </a:pPr>
            <a:r>
              <a:t>Security, Confidentiality, and Privacy Policies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645920"/>
            <a:ext cx="24688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OWASP Top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Open Web Application Security Project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Links code issues directly to major web vulnerability lists.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F59E0B"/>
                </a:solidFill>
                <a:latin typeface="Arial"/>
              </a:defRPr>
            </a:pPr>
            <a:r>
              <a:t>Injection, XSS, SSRF, Broken Auth, Misconfiguration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1120" y="1645920"/>
            <a:ext cx="24688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RBI-CSF Guidelines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Reserve Bank of India Guidelines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Audits specific Indian banking security regulations.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EF4444"/>
                </a:solidFill>
                <a:latin typeface="Arial"/>
              </a:defRPr>
            </a:pPr>
            <a:r>
              <a:t>PAN masking, Cryptography, Timeouts, Data encryption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Cockpit: SovaScan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Interactive analytical workspace and real-time dashboard stats</a:t>
            </a:r>
          </a:p>
        </p:txBody>
      </p:sp>
      <p:pic>
        <p:nvPicPr>
          <p:cNvPr id="7" name="Picture 6" descr="media__17844915771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164592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Dashboard Elements: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Overall Security Risk: </a:t>
            </a:r>
            <a:r>
              <a:rPr b="0" sz="1200">
                <a:solidFill>
                  <a:srgbClr val="94A3B8"/>
                </a:solidFill>
                <a:latin typeface="Arial"/>
              </a:rPr>
              <a:t>Circular dial detailing core vulnerabilities grouped into critical/high categories.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Findings by Severity: </a:t>
            </a:r>
            <a:r>
              <a:rPr b="0" sz="1200">
                <a:solidFill>
                  <a:srgbClr val="94A3B8"/>
                </a:solidFill>
                <a:latin typeface="Arial"/>
              </a:rPr>
              <a:t>Dynamically updated chart displaying counts (e.g. 122 Medium, 28 High, 8 Critical findings).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Security Trend: </a:t>
            </a:r>
            <a:r>
              <a:rPr b="0" sz="1200">
                <a:solidFill>
                  <a:srgbClr val="94A3B8"/>
                </a:solidFill>
                <a:latin typeface="Arial"/>
              </a:rPr>
              <a:t>Historical line graphs plotting scan vulnerability numbers over continuous execution periods.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Terminal View: </a:t>
            </a:r>
            <a:r>
              <a:rPr b="0" sz="1200">
                <a:solidFill>
                  <a:srgbClr val="94A3B8"/>
                </a:solidFill>
                <a:latin typeface="Arial"/>
              </a:rPr>
              <a:t>Bottom logging panel serving system output feeds direct to developers in real-time.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Case Study: What Almost Went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SSRF vulnerability discovery and patch application on SovaScan webhook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SSRF discovery &amp; patching story: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The Vulnerability Discovery: </a:t>
            </a:r>
            <a:r>
              <a:rPr b="0" sz="1200">
                <a:solidFill>
                  <a:srgbClr val="94A3B8"/>
                </a:solidFill>
                <a:latin typeface="Arial"/>
              </a:rPr>
              <a:t>48 hours before the hackathon, we scanned our outbound Slack alert webhook module. Discovered that unvalidated URL parameters allowed requesting local subnets.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SSRF Mitigation Gate: </a:t>
            </a:r>
            <a:r>
              <a:rPr b="0" sz="1200">
                <a:solidFill>
                  <a:srgbClr val="94A3B8"/>
                </a:solidFill>
                <a:latin typeface="Arial"/>
              </a:rPr>
              <a:t>Coded a DNS resolver checking domain IPs against local and link-local ranges, rejecting private spaces and non-HTTPS targets.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Credential Token Masking: </a:t>
            </a:r>
            <a:r>
              <a:rPr b="0" sz="1200">
                <a:solidFill>
                  <a:srgbClr val="94A3B8"/>
                </a:solidFill>
                <a:latin typeface="Arial"/>
              </a:rPr>
              <a:t>Masked webhook secrets and DB connection URLs inside GET API returns, blocking plaintext info exposure to developers.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645920"/>
            <a:ext cx="530352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45920"/>
            <a:ext cx="53035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47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F4444"/>
                </a:solidFill>
                <a:latin typeface="Arial"/>
              </a:defRPr>
            </a:pPr>
            <a:r>
              <a:t>BEFORE: UNRESTRICTED SSRF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Backend accepted arbitrary URL schemes and hosts, allowing an attacker with valid API credentials to execute requests to localhost, internal assets, or cloud metadata endpoints.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840480"/>
            <a:ext cx="530352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3840480"/>
            <a:ext cx="53035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942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0B981"/>
                </a:solidFill>
                <a:latin typeface="Arial"/>
              </a:defRPr>
            </a:pPr>
            <a:r>
              <a:t>AFTER: DEFENSE-IN-DEPTH ENFORCEMENT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2062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Strict URL verification executes socket DNS resolution first. Blocks loopbacks (127.0.0.1), subnets (10.x.x.x, 192.168.x.x), and AWS/GCP metadata (169.254.169.254). Credentials are fully masked on Settings APIs.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Security-First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Applying production-grade security gates to protect internal banking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SovaScan Security Gates: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Outbound Webhook Gates: </a:t>
            </a:r>
            <a:r>
              <a:rPr b="0" sz="1200">
                <a:solidFill>
                  <a:srgbClr val="94A3B8"/>
                </a:solidFill>
                <a:latin typeface="Arial"/>
              </a:rPr>
              <a:t>Validates incoming alert webhook URLs. Blocks loopbacks, private subnets, and cloud metadata endpoints (169.254.169.254).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Secure Settings Storage: </a:t>
            </a:r>
            <a:r>
              <a:rPr b="0" sz="1200">
                <a:solidFill>
                  <a:srgbClr val="94A3B8"/>
                </a:solidFill>
                <a:latin typeface="Arial"/>
              </a:rPr>
              <a:t>Uses dynamic, relative paths rather than absolute paths to load and save local server settings, preventing directory traversal leaks.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Information Exposure Masking: </a:t>
            </a:r>
            <a:r>
              <a:rPr b="0" sz="1200">
                <a:solidFill>
                  <a:srgbClr val="94A3B8"/>
                </a:solidFill>
                <a:latin typeface="Arial"/>
              </a:rPr>
              <a:t>Sensitive DB credentials and webhook keys are masked with asterisks before returning to Settings views.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SECURITY GATES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SSRF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Scheme, Hostname, DNS Lookup and IP checks verified on save and trigger pathways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Asterisk Masking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Webhooks are masked like 'services/T01...****/B01...****/********'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Dynamic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983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.env is loaded from path relative to server root to avoid dev-machine path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Early Warning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Live diagnostic triggers and secure internal alert integrations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Secure Alert Notifications: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Slack &amp; Teams integrations: </a:t>
            </a:r>
            <a:r>
              <a:rPr b="0" sz="1200">
                <a:solidFill>
                  <a:srgbClr val="94A3B8"/>
                </a:solidFill>
                <a:latin typeface="Arial"/>
              </a:rPr>
              <a:t>Sends structured Slack markdown alert messages immediately upon scan completion to designated webhook URLs.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Instant Diagnostic testing: </a:t>
            </a:r>
            <a:r>
              <a:rPr b="0" sz="1200">
                <a:solidFill>
                  <a:srgbClr val="94A3B8"/>
                </a:solidFill>
                <a:latin typeface="Arial"/>
              </a:rPr>
              <a:t>Features a dedicated '⚡ Test Webhook Alert' button in the frontend Settings page to verify delivery parameters.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Detailed alert payloads: </a:t>
            </a:r>
            <a:r>
              <a:rPr b="0" sz="1200">
                <a:solidFill>
                  <a:srgbClr val="94A3B8"/>
                </a:solidFill>
                <a:latin typeface="Arial"/>
              </a:rPr>
              <a:t>Webhook message specifies target Git path, scan identifier, critical vulnerabilities count, and direct report link.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0B0F19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5029200" cy="411480"/>
          </a:xfrm>
          <a:prstGeom prst="rect">
            <a:avLst/>
          </a:prstGeom>
          <a:solidFill>
            <a:srgbClr val="0E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0" y="176022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0" y="176022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49440" y="176022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16687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ourier New"/>
              </a:defRPr>
            </a:pPr>
            <a:r>
              <a:t>slack_payload_template.json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274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0" i="0">
                <a:solidFill>
                  <a:srgbClr val="475569"/>
                </a:solidFill>
                <a:latin typeface="Courier New"/>
              </a:defRPr>
            </a:pPr>
            <a:r>
              <a:t>1</a:t>
            </a:r>
            <a:br/>
            <a:r>
              <a:t>2</a:t>
            </a:r>
            <a:br/>
            <a:r>
              <a:t>3</a:t>
            </a:r>
            <a:br/>
            <a:r>
              <a:t>4</a:t>
            </a:r>
            <a:br/>
            <a:r>
              <a:t>5</a:t>
            </a:r>
            <a:br/>
            <a:r>
              <a:t>6</a:t>
            </a:r>
            <a:br/>
            <a:r>
              <a:t>7</a:t>
            </a:r>
            <a:br/>
            <a:r>
              <a:t>8</a:t>
            </a:r>
            <a:br/>
            <a: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1945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ourier New"/>
              </a:defRPr>
            </a:pPr>
            <a:r>
              <a:t>{</a:t>
            </a:r>
            <a:br/>
            <a:r>
              <a:t>  "text": "🚨 *SovaScan Security Alert*\n🛡️ *RBI CSF &amp; PCI-DSS Audit Status*\n\n*Target:* `git://github.com/company/repo`\n*Critical Vulnerabilities:* `4`\n*High Vulnerabilities:* `12`\n🔗 &lt;https://sovascan.internal/report/9c1a|View Audit Report&gt;"</a:t>
            </a:r>
            <a:br/>
            <a: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Tech Stack &amp; Live Demo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Open-source foundations powering the SovaScan audit portal and demo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72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CORE 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React 18 &amp; TypeScript: </a:t>
            </a:r>
            <a:r>
              <a:rPr b="0" sz="1200">
                <a:solidFill>
                  <a:srgbClr val="94A3B8"/>
                </a:solidFill>
                <a:latin typeface="Arial"/>
              </a:rPr>
              <a:t>Powers the type-safe component dashboard web layout.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Zustand State Store: </a:t>
            </a:r>
            <a:r>
              <a:rPr b="0" sz="1200">
                <a:solidFill>
                  <a:srgbClr val="94A3B8"/>
                </a:solidFill>
                <a:latin typeface="Arial"/>
              </a:rPr>
              <a:t>Lightweight client-side data state caching and action pipelines.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FastAPI Async Web Framework: </a:t>
            </a:r>
            <a:r>
              <a:rPr b="0" sz="1200">
                <a:solidFill>
                  <a:srgbClr val="94A3B8"/>
                </a:solidFill>
                <a:latin typeface="Arial"/>
              </a:rPr>
              <a:t>Asynchronous HTTP backend routing and swift API key validations.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Bandit &amp; Semgrep SAST: </a:t>
            </a:r>
            <a:r>
              <a:rPr b="0" sz="1200">
                <a:solidFill>
                  <a:srgbClr val="94A3B8"/>
                </a:solidFill>
                <a:latin typeface="Arial"/>
              </a:rPr>
              <a:t>Source code AST static checkers run in isolated subprocess channels.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12064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45920"/>
            <a:ext cx="51206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72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LIVE DEMO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488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Configure Webhooks: </a:t>
            </a:r>
            <a:r>
              <a:rPr b="0" sz="1200">
                <a:solidFill>
                  <a:srgbClr val="94A3B8"/>
                </a:solidFill>
                <a:latin typeface="Arial"/>
              </a:rPr>
              <a:t>Paste diagnostic webhook URL in settings and trigger 'Test Webhook Alert'.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Scan Git Repository Target: </a:t>
            </a:r>
            <a:r>
              <a:rPr b="0" sz="1200">
                <a:solidFill>
                  <a:srgbClr val="94A3B8"/>
                </a:solidFill>
                <a:latin typeface="Arial"/>
              </a:rPr>
              <a:t>Input target repository URL, start scan, and watch progress updates live.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Audit &amp; Remediate Controls: </a:t>
            </a:r>
            <a:r>
              <a:rPr b="0" sz="1200">
                <a:solidFill>
                  <a:srgbClr val="94A3B8"/>
                </a:solidFill>
                <a:latin typeface="Arial"/>
              </a:rPr>
              <a:t>Map scan onto NIST-CSF controls. Apply 'Auto-Fix', write ledger justification, and verify compliance score increase.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Audit Trail &amp; CLI: </a:t>
            </a:r>
            <a:r>
              <a:rPr b="0" sz="1200">
                <a:solidFill>
                  <a:srgbClr val="94A3B8"/>
                </a:solidFill>
                <a:latin typeface="Arial"/>
              </a:rPr>
              <a:t>Verify persistent ledger logs. Demonstrate terminal CLI checks and CycloneDX SBOM exports.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vascan_owl_logo_1784490469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7315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2918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 i="0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4069080"/>
            <a:ext cx="2743200" cy="317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1">
                <a:solidFill>
                  <a:srgbClr val="94A3B8"/>
                </a:solidFill>
                <a:latin typeface="Arial"/>
              </a:defRPr>
            </a:pPr>
            <a:r>
              <a:t>"The next leaked banking credential is in a Git commit right now.</a:t>
            </a:r>
            <a:br/>
            <a:r>
              <a:t>The only question is who finds it first -- an attacker, or SovaScan."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8FAFC"/>
                </a:solidFill>
                <a:latin typeface="Arial"/>
              </a:defRPr>
            </a:pPr>
            <a:r>
              <a:t>Project Repository:  github.com/abhinavsingh2403/SovaScan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475569"/>
                </a:solidFill>
                <a:latin typeface="Arial"/>
              </a:defRPr>
            </a:pPr>
            <a:r>
              <a:t>Deployable On-Premises  |  Zero-Trust Network Perimeter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475569"/>
                </a:solidFill>
                <a:latin typeface="Arial"/>
              </a:defRPr>
            </a:pPr>
            <a:r>
              <a:t>Team Name: Verstappen Paglus  |  UCO Bank Hackathon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