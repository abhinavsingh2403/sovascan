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vascan_owl_logo_17844904696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292608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0" y="15544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 i="0">
                <a:solidFill>
                  <a:srgbClr val="FFFFFF"/>
                </a:solidFill>
                <a:latin typeface="Arial"/>
              </a:defRPr>
            </a:pPr>
            <a:r>
              <a:t>SovaScan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3774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366F1"/>
                </a:solidFill>
                <a:latin typeface="Arial"/>
              </a:defRPr>
            </a:pPr>
            <a:r>
              <a:t>Intelligent Vulnerability, Configuration &amp; Secret Security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83464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94A3B8"/>
                </a:solidFill>
                <a:latin typeface="Arial"/>
              </a:defRPr>
            </a:pPr>
            <a:r>
              <a:t>Tailored for Continuous Regulatory Auditing and Automated Remediation in Banking Codebases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114800"/>
            <a:ext cx="5029200" cy="254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43891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59E0B"/>
                </a:solidFill>
                <a:latin typeface="Arial"/>
              </a:defRPr>
            </a:pPr>
            <a:r>
              <a:t>National Hackathon 2026  |  UCO Bank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8006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Designed for Continuous CISO Security Gates &amp; Active Auditing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2120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75569"/>
                </a:solidFill>
                <a:latin typeface="Arial"/>
              </a:defRPr>
            </a:pPr>
            <a:r>
              <a:t>Presented by: Team Verstappen Paglus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Operational challenges and compliance risks in current banking security audits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Critical security issues in banking systems: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Manual &amp; Delayed Audits: </a:t>
            </a:r>
            <a:r>
              <a:rPr b="0" sz="1200">
                <a:solidFill>
                  <a:srgbClr val="94A3B8"/>
                </a:solidFill>
                <a:latin typeface="Arial"/>
              </a:rPr>
              <a:t>SecOps runs manual codebase reviews only once or twice a year, leaving vulnerabilities active in production configurations for long periods.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Exposed Secrets &amp; Keys: </a:t>
            </a:r>
            <a:r>
              <a:rPr b="0" sz="1200">
                <a:solidFill>
                  <a:srgbClr val="94A3B8"/>
                </a:solidFill>
                <a:latin typeface="Arial"/>
              </a:rPr>
              <a:t>APIs, database connection credentials, and security tokens are frequently committed to git history. Traditional scanners miss these entropy-based patterns.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Static compliance logging: </a:t>
            </a:r>
            <a:r>
              <a:rPr b="0" sz="1200">
                <a:solidFill>
                  <a:srgbClr val="94A3B8"/>
                </a:solidFill>
                <a:latin typeface="Arial"/>
              </a:rPr>
              <a:t>Compliance audits (RBI Cyber Security, NIST-CSF, SOC-2) are tracked manually in spreadsheets instead of dynamically linking to actual codebase status.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645920"/>
            <a:ext cx="484632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THE FINANCIAL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560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EF4444"/>
                </a:solidFill>
                <a:latin typeface="Arial"/>
              </a:defRPr>
            </a:pPr>
            <a:r>
              <a:t>277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58572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Average time required to identify and resolve key leaks in large-scale repositories</a:t>
            </a:r>
            <a:br/>
            <a:r>
              <a:t>*Source: IBM Cost of a Data Breach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566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EF4444"/>
                </a:solidFill>
                <a:latin typeface="Arial"/>
              </a:defRPr>
            </a:pPr>
            <a:r>
              <a:t>$4.5M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59156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Average global cost of data breaches in banking and financial configurations</a:t>
            </a:r>
            <a:br/>
            <a:r>
              <a:t>*Source: IBM Cost of a Data Breach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572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EF4444"/>
                </a:solidFill>
                <a:latin typeface="Arial"/>
              </a:defRPr>
            </a:pPr>
            <a:r>
              <a:t>Regulatory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59740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Heavy penalties by RBI for lacking continuous vulnerability assessment systems</a:t>
            </a:r>
            <a:br/>
            <a:r>
              <a:t>*Source: RBI Cybersecurity Guidelines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SovaScan: The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Automated multi-vector scanning and live regulatory compliance mapping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How SovaScan protects code assets: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Continuous Scan Pipelines: </a:t>
            </a:r>
            <a:r>
              <a:rPr b="0" sz="1200">
                <a:solidFill>
                  <a:srgbClr val="94A3B8"/>
                </a:solidFill>
                <a:latin typeface="Arial"/>
              </a:rPr>
              <a:t>Runs automated multi-vector scanning covering dependencies, secret detection, SAST, git history, and configs.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Live Compliance Mapping: </a:t>
            </a:r>
            <a:r>
              <a:rPr b="0" sz="1200">
                <a:solidFill>
                  <a:srgbClr val="94A3B8"/>
                </a:solidFill>
                <a:latin typeface="Arial"/>
              </a:rPr>
              <a:t>Translates raw CVEs and vulnerabilities directly into passing/failing control checklists for RBI, NIST, and SOC-2.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One-Click Remediations: </a:t>
            </a:r>
            <a:r>
              <a:rPr b="0" sz="1200">
                <a:solidFill>
                  <a:srgbClr val="94A3B8"/>
                </a:solidFill>
                <a:latin typeface="Arial"/>
              </a:rPr>
              <a:t>Security operators can apply auto-fixes and roll back changes instantly, directly inside the dashboard panel.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645920"/>
            <a:ext cx="484632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THE SOLUTION BENEFIT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560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0B981"/>
                </a:solidFill>
                <a:latin typeface="Arial"/>
              </a:defRPr>
            </a:pPr>
            <a:r>
              <a:t>Seconds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6111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Real-time vulnerability findings and automated alerts sent via WebSockets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566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0B981"/>
                </a:solidFill>
                <a:latin typeface="Arial"/>
              </a:defRPr>
            </a:pPr>
            <a:r>
              <a:t>100% Audit 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616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Continuous dashboard shows actual compliance posture for executive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572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0B981"/>
                </a:solidFill>
                <a:latin typeface="Arial"/>
              </a:defRPr>
            </a:pPr>
            <a:r>
              <a:t>Closed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622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Identify, remediate, audit, and alert - all in a single integrated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Core components and data relationships flowchart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53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Dashboard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React 18 / Zustand</a:t>
            </a:r>
            <a:br/>
            <a:r>
              <a:t>Recharts SVG Gauges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91840" y="2807208"/>
            <a:ext cx="548640" cy="22860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31920" y="237744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2453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API Router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7432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FastAPI Router</a:t>
            </a:r>
            <a:br/>
            <a:r>
              <a:t>API Key Verification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492240" y="2468880"/>
            <a:ext cx="548640" cy="22860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5052060" y="3566160"/>
            <a:ext cx="228600" cy="365760"/>
          </a:xfrm>
          <a:prstGeom prst="down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31920" y="402336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4099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Alert Dispatcher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3891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Slack / Teams Alerting</a:t>
            </a:r>
            <a:br/>
            <a:r>
              <a:t>(Outbound SSRF Safe)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64592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1722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Scan Orchestrator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0116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ScanManager Task Runner</a:t>
            </a:r>
            <a:br/>
            <a:r>
              <a:t>Real-time WebSockets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8252460" y="2834640"/>
            <a:ext cx="228600" cy="365760"/>
          </a:xfrm>
          <a:prstGeom prst="down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0" y="329184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3368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Multi-Vector Scanners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6576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SAST / Secrets / Deps</a:t>
            </a:r>
            <a:br/>
            <a:r>
              <a:t>Git History Crawler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692640" y="3721608"/>
            <a:ext cx="548640" cy="22860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8252460" y="4480560"/>
            <a:ext cx="228600" cy="365760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332720" y="3291840"/>
            <a:ext cx="20116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0" y="3368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SQLite 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36576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sovascan.db</a:t>
            </a:r>
            <a:br/>
            <a:r>
              <a:t>Audit Log Ledger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0" y="493776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5013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Threat Intel Feeds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53035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OSV API / CVE Feeds</a:t>
            </a:r>
            <a:br/>
            <a:r>
              <a:t>CISA KEV / EPSS DB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492240" y="4846320"/>
            <a:ext cx="3749039" cy="13716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1">
                <a:solidFill>
                  <a:srgbClr val="94A3B8"/>
                </a:solidFill>
                <a:latin typeface="Arial"/>
              </a:defRPr>
            </a:pPr>
            <a:r>
              <a:t>⚡ Data Flow: Dashboard requests trigger secure APIs. The Gateway schedules task workers via ScanManager, audits threat parameters, updates SQLite states, dispatches Slack notifications, and streams progress alerts.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Scan Execution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Low-level task lifecycle and API/worker transaction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24688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4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B82F6"/>
                </a:solidFill>
                <a:latin typeface="Arial"/>
              </a:defRPr>
            </a:pPr>
            <a:r>
              <a:t>1.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User POSTs Git URL + key credentials to /api/v1/scan API route.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46120" y="2286000"/>
            <a:ext cx="320040" cy="1828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80" y="1645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80" y="1645920"/>
            <a:ext cx="24688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174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B82F6"/>
                </a:solidFill>
                <a:latin typeface="Arial"/>
              </a:defRPr>
            </a:pPr>
            <a:r>
              <a:t>2. API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011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Router checks auth state, writes PENDING to DB, and returns a 202 ID.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126480" y="2286000"/>
            <a:ext cx="320040" cy="18288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1645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1645920"/>
            <a:ext cx="24688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174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6366F1"/>
                </a:solidFill>
                <a:latin typeface="Arial"/>
              </a:defRPr>
            </a:pPr>
            <a:r>
              <a:t>3. DISPATCH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011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ScanManager schedules worker task, decoupling scan from HTTP threads.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006840" y="2286000"/>
            <a:ext cx="320040" cy="18288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72600" y="1645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72600" y="1645920"/>
            <a:ext cx="24688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174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B5CF6"/>
                </a:solidFill>
                <a:latin typeface="Arial"/>
              </a:defRPr>
            </a:pPr>
            <a:r>
              <a:t>4. CLONE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011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Worker spawns secure temporary clones of target Git directories.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10492740" y="3383280"/>
            <a:ext cx="228600" cy="457200"/>
          </a:xfrm>
          <a:prstGeom prst="down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72600" y="3931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72600" y="3931920"/>
            <a:ext cx="24688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5480" y="403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B5CF6"/>
                </a:solidFill>
                <a:latin typeface="Arial"/>
              </a:defRPr>
            </a:pPr>
            <a:r>
              <a:t>5. EXECUTE AUDITS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Runs parallel vector checks: SAST, secrets, CVEs, git history, configs.</a:t>
            </a:r>
          </a:p>
        </p:txBody>
      </p:sp>
      <p:sp>
        <p:nvSpPr>
          <p:cNvPr id="31" name="Left Arrow 30"/>
          <p:cNvSpPr/>
          <p:nvPr/>
        </p:nvSpPr>
        <p:spPr>
          <a:xfrm>
            <a:off x="9006840" y="4572000"/>
            <a:ext cx="320040" cy="182880"/>
          </a:xfrm>
          <a:prstGeom prst="lef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3931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92240" y="3931920"/>
            <a:ext cx="24688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403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59E0B"/>
                </a:solidFill>
                <a:latin typeface="Arial"/>
              </a:defRPr>
            </a:pPr>
            <a:r>
              <a:t>6. COMPLIANCE MAPPING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Applies scoring modifiers and correlates issues to RBI/NIST controls.</a:t>
            </a:r>
          </a:p>
        </p:txBody>
      </p:sp>
      <p:sp>
        <p:nvSpPr>
          <p:cNvPr id="36" name="Left Arrow 35"/>
          <p:cNvSpPr/>
          <p:nvPr/>
        </p:nvSpPr>
        <p:spPr>
          <a:xfrm>
            <a:off x="6126480" y="4572000"/>
            <a:ext cx="320040" cy="182880"/>
          </a:xfrm>
          <a:prstGeom prst="lef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11880" y="3931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11880" y="3931920"/>
            <a:ext cx="24688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94760" y="403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0B981"/>
                </a:solidFill>
                <a:latin typeface="Arial"/>
              </a:defRPr>
            </a:pPr>
            <a:r>
              <a:t>7. WRITE DETAILS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476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Persists findings, exports SBOM list, dispatches notifications.</a:t>
            </a:r>
          </a:p>
        </p:txBody>
      </p:sp>
      <p:sp>
        <p:nvSpPr>
          <p:cNvPr id="41" name="Left Arrow 40"/>
          <p:cNvSpPr/>
          <p:nvPr/>
        </p:nvSpPr>
        <p:spPr>
          <a:xfrm>
            <a:off x="3246120" y="4572000"/>
            <a:ext cx="320040" cy="182880"/>
          </a:xfrm>
          <a:prstGeom prst="lef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3931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1520" y="3931920"/>
            <a:ext cx="24688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03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0B981"/>
                </a:solidFill>
                <a:latin typeface="Arial"/>
              </a:defRPr>
            </a:pPr>
            <a:r>
              <a:t>8. WEBSOCKET FEED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UI receives completion events, re-indexing stats and compliance speedometer.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Multi-Vector Scanning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Parallel code audit layers checking for complex vulnerabilities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33832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72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Dependency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Extracts manifest definitions (package.json, requirements.txt, pom.xml) and runs CVE assessments via OSV API integrations.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64592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645920"/>
            <a:ext cx="33832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772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Secret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57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Executes high-entropy Shannon algorithm checks + regex signatures to find raw passwords, private keys, and API tokens.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64592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45920"/>
            <a:ext cx="33832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772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Static Analysis (SAST)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057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Seamlessly triggers Bandit (Python AST) and Semgrep (static pattern matching) subprocesses to audit source logic.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84048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840480"/>
            <a:ext cx="3383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96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Git History Crawler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519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Iterates through full commit logs (git log -p) to identify historical leaks hidden in older code revisions.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384048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840480"/>
            <a:ext cx="338328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396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Configuration Audits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2519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Audits deployment configurations (Dockerfiles, Nginx configs, env scripts) for insecure defaults and CORS issues.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84048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3840480"/>
            <a:ext cx="33832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96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Dynamic Context-Scoring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2519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Applies location-aware multipliers. Modifies risk scores if vulnerability is located in production vs testing directories.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Regulatory Compliance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Translating code vulnerabilities directly to regulatory controls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4688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24688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98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NIST-CSF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Arial"/>
              </a:defRPr>
            </a:pPr>
            <a:r>
              <a:t>National Institute of Standards &amp; Technology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926080"/>
            <a:ext cx="192024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632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Maps code vulnerability scans onto core NIST pillars to trace posture.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343400"/>
            <a:ext cx="2194560" cy="109728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3B82F6"/>
                </a:solidFill>
                <a:latin typeface="Arial"/>
              </a:defRPr>
            </a:pPr>
            <a:r>
              <a:t>Identify, Protect, Detect, Respond, Recover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1645920"/>
            <a:ext cx="24688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0" y="1645920"/>
            <a:ext cx="24688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1798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SOC-2 Type 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14884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Arial"/>
              </a:defRPr>
            </a:pPr>
            <a:r>
              <a:t>Service Organization Control Report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40" y="2926080"/>
            <a:ext cx="192024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30632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Secures compliance gates by auditing trust service criteria.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4343400"/>
            <a:ext cx="2194560" cy="109728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4389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8B5CF6"/>
                </a:solidFill>
                <a:latin typeface="Arial"/>
              </a:defRPr>
            </a:pPr>
            <a:r>
              <a:t>Security, Confidentiality, and Privacy Policies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645920"/>
            <a:ext cx="24688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645920"/>
            <a:ext cx="24688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798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OWASP Top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14884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Arial"/>
              </a:defRPr>
            </a:pPr>
            <a:r>
              <a:t>Open Web Application Security Project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2926080"/>
            <a:ext cx="192024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0632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Links code issues directly to major web vulnerability lists.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4343400"/>
            <a:ext cx="2194560" cy="109728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389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F59E0B"/>
                </a:solidFill>
                <a:latin typeface="Arial"/>
              </a:defRPr>
            </a:pPr>
            <a:r>
              <a:t>Injection, XSS, SSRF, Broken Auth, Misconfiguration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1645920"/>
            <a:ext cx="24688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61120" y="1645920"/>
            <a:ext cx="246888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1798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RBI-CSF Guidelines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14884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Arial"/>
              </a:defRPr>
            </a:pPr>
            <a:r>
              <a:t>Reserve Bank of India Guidelines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2926080"/>
            <a:ext cx="192024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80" y="30632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Audits specific Indian banking security regulations.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98280" y="4343400"/>
            <a:ext cx="2194560" cy="109728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4389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EF4444"/>
                </a:solidFill>
                <a:latin typeface="Arial"/>
              </a:defRPr>
            </a:pPr>
            <a:r>
              <a:t>PAN masking, Cryptography, Timeouts, Data encryption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Developer &amp; Security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Interactive analytical workspace and real-time dashboard stats</a:t>
            </a:r>
          </a:p>
        </p:txBody>
      </p:sp>
      <p:pic>
        <p:nvPicPr>
          <p:cNvPr id="7" name="Picture 6" descr="media__17844915771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858000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0" y="164592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Dashboard Elements: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Overall Security Risk: </a:t>
            </a:r>
            <a:r>
              <a:rPr b="0" sz="1200">
                <a:solidFill>
                  <a:srgbClr val="94A3B8"/>
                </a:solidFill>
                <a:latin typeface="Arial"/>
              </a:rPr>
              <a:t>Circular dial detailing core vulnerabilities grouped into critical/high categories.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Findings by Severity: </a:t>
            </a:r>
            <a:r>
              <a:rPr b="0" sz="1200">
                <a:solidFill>
                  <a:srgbClr val="94A3B8"/>
                </a:solidFill>
                <a:latin typeface="Arial"/>
              </a:rPr>
              <a:t>Dynamically updated chart displaying counts (e.g. 122 Medium, 28 High, 8 Critical findings).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Security Trend: </a:t>
            </a:r>
            <a:r>
              <a:rPr b="0" sz="1200">
                <a:solidFill>
                  <a:srgbClr val="94A3B8"/>
                </a:solidFill>
                <a:latin typeface="Arial"/>
              </a:rPr>
              <a:t>Historical line graphs plotting scan vulnerability numbers over continuous execution periods.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Terminal View: </a:t>
            </a:r>
            <a:r>
              <a:rPr b="0" sz="1200">
                <a:solidFill>
                  <a:srgbClr val="94A3B8"/>
                </a:solidFill>
                <a:latin typeface="Arial"/>
              </a:rPr>
              <a:t>Bottom logging panel serving system output feeds direct to developers in real-time.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Securing the Gatekeeper: Self-Auditing SovaScan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Before-and-after case study of discovering and fixing an SSRF vulnerability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</a:defRPr>
            </a:pPr>
            <a:r>
              <a:t>Security maturity case study: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The Vulnerability Discovery: </a:t>
            </a:r>
            <a:r>
              <a:rPr b="0" sz="1200">
                <a:solidFill>
                  <a:srgbClr val="94A3B8"/>
                </a:solidFill>
                <a:latin typeface="Arial"/>
              </a:rPr>
              <a:t>Ran audits on our own outbound Slack Webhook alert module. Identified that unvalidated URL parameters allowed requests to internal subnets.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ssrf mitigation gate: </a:t>
            </a:r>
            <a:r>
              <a:rPr b="0" sz="1200">
                <a:solidFill>
                  <a:srgbClr val="94A3B8"/>
                </a:solidFill>
                <a:latin typeface="Arial"/>
              </a:rPr>
              <a:t>Coded a DNS resolver checking domain IPs against local and link-local ranges, rejecting private spaces and non-HTTPS targets.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credential token masking: </a:t>
            </a:r>
            <a:r>
              <a:rPr b="0" sz="1200">
                <a:solidFill>
                  <a:srgbClr val="94A3B8"/>
                </a:solidFill>
                <a:latin typeface="Arial"/>
              </a:rPr>
              <a:t>Masked webhook secrets and DB connection URLs inside GET API returns, blocking plaintext info exposure to developers.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645920"/>
            <a:ext cx="530352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645920"/>
            <a:ext cx="530352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475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EF4444"/>
                </a:solidFill>
                <a:latin typeface="Arial"/>
              </a:defRPr>
            </a:pPr>
            <a:r>
              <a:t>BEFORE: UNRESTRICTED SSRF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Backend accepted arbitrary URL schemes and hosts, allowing an attacker with valid API credentials to execute requests to localhost, internal assets, or cloud metadata endpoints.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840480"/>
            <a:ext cx="530352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3840480"/>
            <a:ext cx="530352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942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0B981"/>
                </a:solidFill>
                <a:latin typeface="Arial"/>
              </a:defRPr>
            </a:pPr>
            <a:r>
              <a:t>AFTER: DEFENSE-IN-DEPTH ENFORCEMENT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20624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Strict URL verification executes socket DNS resolution first. Blocks loopbacks (127.0.0.1), subnets (10.x.x.x, 192.168.x.x), and AWS/GCP metadata (169.254.169.254). Credentials are fully masked on Settings APIs.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Security-First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Applying production-grade security gates to protect internal banking APIs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SovaScan Security Gates: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Outbound Webhook Gates: </a:t>
            </a:r>
            <a:r>
              <a:rPr b="0" sz="1200">
                <a:solidFill>
                  <a:srgbClr val="94A3B8"/>
                </a:solidFill>
                <a:latin typeface="Arial"/>
              </a:rPr>
              <a:t>Validates incoming alert webhook URLs. Blocks loopbacks, private subnets, and cloud metadata endpoints (169.254.169.254).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Secure Settings Storage: </a:t>
            </a:r>
            <a:r>
              <a:rPr b="0" sz="1200">
                <a:solidFill>
                  <a:srgbClr val="94A3B8"/>
                </a:solidFill>
                <a:latin typeface="Arial"/>
              </a:rPr>
              <a:t>Uses dynamic, relative paths rather than absolute paths to load and save local server settings, preventing directory traversal leaks.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Information Exposure Masking: </a:t>
            </a:r>
            <a:r>
              <a:rPr b="0" sz="1200">
                <a:solidFill>
                  <a:srgbClr val="94A3B8"/>
                </a:solidFill>
                <a:latin typeface="Arial"/>
              </a:rPr>
              <a:t>Sensitive DB credentials and webhook keys are masked with asterisks before returning to Settings views.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645920"/>
            <a:ext cx="484632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SECURITY GATES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560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EF4444"/>
                </a:solidFill>
                <a:latin typeface="Arial"/>
              </a:defRPr>
            </a:pPr>
            <a:r>
              <a:t>SSRF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6111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Scheme, Hostname, DNS Lookup and IP checks verified on save and trigger pathways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566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EF4444"/>
                </a:solidFill>
                <a:latin typeface="Arial"/>
              </a:defRPr>
            </a:pPr>
            <a:r>
              <a:t>Asterisk Masking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616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Webhooks are masked like 'services/T01...****/B01...****/********'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572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EF4444"/>
                </a:solidFill>
                <a:latin typeface="Arial"/>
              </a:defRPr>
            </a:pPr>
            <a:r>
              <a:t>Dynamic Config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622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.env is loaded from path relative to server root to avoid dev-machine path leakage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Real-Time Webhook Alerting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Live diagnostic triggers and secure internal alert integrations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Secure Alert Notifications: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Slack &amp; Teams integrations: </a:t>
            </a:r>
            <a:r>
              <a:rPr b="0" sz="1200">
                <a:solidFill>
                  <a:srgbClr val="94A3B8"/>
                </a:solidFill>
                <a:latin typeface="Arial"/>
              </a:rPr>
              <a:t>Sends structured Slack markdown alert messages immediately upon scan completion to designated webhook URLs.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Instant Diagnostic testing: </a:t>
            </a:r>
            <a:r>
              <a:rPr b="0" sz="1200">
                <a:solidFill>
                  <a:srgbClr val="94A3B8"/>
                </a:solidFill>
                <a:latin typeface="Arial"/>
              </a:rPr>
              <a:t>Features a dedicated '⚡ Test Webhook Alert' button in the frontend Settings page to verify delivery parameters.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Detailed alert payloads: </a:t>
            </a:r>
            <a:r>
              <a:rPr b="0" sz="1200">
                <a:solidFill>
                  <a:srgbClr val="94A3B8"/>
                </a:solidFill>
                <a:latin typeface="Arial"/>
              </a:rPr>
              <a:t>Webhook message specifies target Git path, scan identifier, critical vulnerabilities count, and direct report link.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0B0F19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5029200" cy="411480"/>
          </a:xfrm>
          <a:prstGeom prst="rect">
            <a:avLst/>
          </a:prstGeom>
          <a:solidFill>
            <a:srgbClr val="0E15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0" y="176022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66560" y="176022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49440" y="176022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0" y="16687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Courier New"/>
              </a:defRPr>
            </a:pPr>
            <a:r>
              <a:t>slack_payload_template.json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94560"/>
            <a:ext cx="274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0" i="0">
                <a:solidFill>
                  <a:srgbClr val="475569"/>
                </a:solidFill>
                <a:latin typeface="Courier New"/>
              </a:defRPr>
            </a:pPr>
            <a:r>
              <a:t>1</a:t>
            </a:r>
            <a:br/>
            <a:r>
              <a:t>2</a:t>
            </a:r>
            <a:br/>
            <a:r>
              <a:t>3</a:t>
            </a:r>
            <a:br/>
            <a:r>
              <a:t>4</a:t>
            </a:r>
            <a:br/>
            <a:r>
              <a:t>5</a:t>
            </a:r>
            <a:br/>
            <a:r>
              <a:t>6</a:t>
            </a:r>
            <a:br/>
            <a:r>
              <a:t>7</a:t>
            </a:r>
            <a:br/>
            <a:r>
              <a:t>8</a:t>
            </a:r>
            <a:br/>
            <a: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19456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Courier New"/>
              </a:defRPr>
            </a:pPr>
            <a:r>
              <a:t>{</a:t>
            </a:r>
            <a:br/>
            <a:r>
              <a:t>  "text": "🚨 *SovaScan Security Alert*\n🛡️ *RBI CSF &amp; PCI-DSS Audit Status*\n\n*Target:* `git://github.com/company/repo`\n*Critical Vulnerabilities:* `4`\n*High Vulnerabilities:* `12`\n🔗 &lt;https://sovascan.internal/report/9c1a|View Audit Report&gt;"</a:t>
            </a:r>
            <a:br/>
            <a: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Core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Open-source foundations powering the SovaScan audit portal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12064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12064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772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FRONTEND &amp; BACKEND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488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React 18 &amp; TypeScript: </a:t>
            </a:r>
            <a:r>
              <a:rPr b="0" sz="1200">
                <a:solidFill>
                  <a:srgbClr val="94A3B8"/>
                </a:solidFill>
                <a:latin typeface="Arial"/>
              </a:rPr>
              <a:t>Powers the type-safe component dashboard web layout.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Zustand State Store: </a:t>
            </a:r>
            <a:r>
              <a:rPr b="0" sz="1200">
                <a:solidFill>
                  <a:srgbClr val="94A3B8"/>
                </a:solidFill>
                <a:latin typeface="Arial"/>
              </a:rPr>
              <a:t>Lightweight client-side data state caching and action pipelines.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FastAPI Async Web Framework: </a:t>
            </a:r>
            <a:r>
              <a:rPr b="0" sz="1200">
                <a:solidFill>
                  <a:srgbClr val="94A3B8"/>
                </a:solidFill>
                <a:latin typeface="Arial"/>
              </a:rPr>
              <a:t>Asynchronous HTTP backend routing and swift API key validations.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SQLAlchemy Core: </a:t>
            </a:r>
            <a:r>
              <a:rPr b="0" sz="1200">
                <a:solidFill>
                  <a:srgbClr val="94A3B8"/>
                </a:solidFill>
                <a:latin typeface="Arial"/>
              </a:rPr>
              <a:t>Object-relational mapping patterns with SQLite data adapters.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45920"/>
            <a:ext cx="512064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645920"/>
            <a:ext cx="5120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772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SECURITY &amp; DEVOPS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488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OSV Vulnerability API: </a:t>
            </a:r>
            <a:r>
              <a:rPr b="0" sz="1200">
                <a:solidFill>
                  <a:srgbClr val="94A3B8"/>
                </a:solidFill>
                <a:latin typeface="Arial"/>
              </a:rPr>
              <a:t>Continuous downstream database scans for open-source package CVEs.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Bandit &amp; Semgrep: </a:t>
            </a:r>
            <a:r>
              <a:rPr b="0" sz="1200">
                <a:solidFill>
                  <a:srgbClr val="94A3B8"/>
                </a:solidFill>
                <a:latin typeface="Arial"/>
              </a:rPr>
              <a:t>Source code AST static checkers run in isolated subprocess channels.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Docker &amp; Docker Compose: </a:t>
            </a:r>
            <a:r>
              <a:rPr b="0" sz="1200">
                <a:solidFill>
                  <a:srgbClr val="94A3B8"/>
                </a:solidFill>
                <a:latin typeface="Arial"/>
              </a:rPr>
              <a:t>Orchestrates multi-container local server build and run systems.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GitHub Actions CI/CD: </a:t>
            </a:r>
            <a:r>
              <a:rPr b="0" sz="1200">
                <a:solidFill>
                  <a:srgbClr val="94A3B8"/>
                </a:solidFill>
                <a:latin typeface="Arial"/>
              </a:rPr>
              <a:t>Automated lint compliance validation checks and execution testing.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Live Demo &amp; Verstappen Paglus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Step-by-step presentation walkthrough and core team responsibilities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12064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12064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772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LIVE DEMO TIMELINE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488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300">
                <a:solidFill>
                  <a:srgbClr val="6366F1"/>
                </a:solidFill>
                <a:latin typeface="Arial"/>
              </a:rPr>
              <a:t>•  Step 1. Configure &amp; Test Alerting: </a:t>
            </a:r>
            <a:r>
              <a:rPr b="0" sz="1200">
                <a:solidFill>
                  <a:srgbClr val="94A3B8"/>
                </a:solidFill>
                <a:latin typeface="Arial"/>
              </a:rPr>
              <a:t>Input internal webhook URLs and trigger diagnostics to verify Slack notifications.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6366F1"/>
                </a:solidFill>
                <a:latin typeface="Arial"/>
              </a:rPr>
              <a:t>•  Step 2. Scan Git Repository Target: </a:t>
            </a:r>
            <a:r>
              <a:rPr b="0" sz="1200">
                <a:solidFill>
                  <a:srgbClr val="94A3B8"/>
                </a:solidFill>
                <a:latin typeface="Arial"/>
              </a:rPr>
              <a:t>Run a new scan and monitor real-time WebSockets progress feeds.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6366F1"/>
                </a:solidFill>
                <a:latin typeface="Arial"/>
              </a:rPr>
              <a:t>•  Step 3. Auditing &amp; One-Click Fixes: </a:t>
            </a:r>
            <a:r>
              <a:rPr b="0" sz="1200">
                <a:solidFill>
                  <a:srgbClr val="94A3B8"/>
                </a:solidFill>
                <a:latin typeface="Arial"/>
              </a:rPr>
              <a:t>Map scans onto NIST-CSF checklists, execute 'Auto-Fix', and verify DB logs.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6366F1"/>
                </a:solidFill>
                <a:latin typeface="Arial"/>
              </a:rPr>
              <a:t>•  Step 4. Run CLI Scanning Output: </a:t>
            </a:r>
            <a:r>
              <a:rPr b="0" sz="1200">
                <a:solidFill>
                  <a:srgbClr val="94A3B8"/>
                </a:solidFill>
                <a:latin typeface="Arial"/>
              </a:rPr>
              <a:t>Demonstrate colorized terminal results and CycloneDX SBOM exports.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45920"/>
            <a:ext cx="512064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645920"/>
            <a:ext cx="512064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772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VERSTAPPEN PAGLUS ROLES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488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300">
                <a:solidFill>
                  <a:srgbClr val="8B5CF6"/>
                </a:solidFill>
                <a:latin typeface="Arial"/>
              </a:rPr>
              <a:t>•  Abhinav Singh: </a:t>
            </a:r>
            <a:r>
              <a:rPr b="0" sz="1200">
                <a:solidFill>
                  <a:srgbClr val="94A3B8"/>
                </a:solidFill>
                <a:latin typeface="Arial"/>
              </a:rPr>
              <a:t>Lead Security Engineer. Authored the FastAPI settings gateways, API key filters, and SQLite auditing ledger.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8B5CF6"/>
                </a:solidFill>
                <a:latin typeface="Arial"/>
              </a:rPr>
              <a:t>•  Engine Architect: </a:t>
            </a:r>
            <a:r>
              <a:rPr b="0" sz="1200">
                <a:solidFill>
                  <a:srgbClr val="94A3B8"/>
                </a:solidFill>
                <a:latin typeface="Arial"/>
              </a:rPr>
              <a:t>SecOps Engineer. Implemented the background ScanManager worker execution pipeline, secrets parser, and git crawler.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8B5CF6"/>
                </a:solidFill>
                <a:latin typeface="Arial"/>
              </a:rPr>
              <a:t>•  UI / UX Engineer: </a:t>
            </a:r>
            <a:r>
              <a:rPr b="0" sz="1200">
                <a:solidFill>
                  <a:srgbClr val="94A3B8"/>
                </a:solidFill>
                <a:latin typeface="Arial"/>
              </a:rPr>
              <a:t>Frontend Developer. Designed the React interface dashboard panels, Recharts SVG gauges, and WebSocket listeners.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vascan_owl_logo_17844904696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54864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01752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 i="0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3794760"/>
            <a:ext cx="2743200" cy="317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6366F1"/>
                </a:solidFill>
                <a:latin typeface="Arial"/>
              </a:defRPr>
            </a:pPr>
            <a: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8FAFC"/>
                </a:solidFill>
                <a:latin typeface="Arial"/>
              </a:defRPr>
            </a:pPr>
            <a:r>
              <a:t>Project Repository:  github.com/abhinavsingh2403/SovaScan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Deployable On-Premises: Zero-Trust Network Perimeter (Data stays within the bank's secure environment)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475569"/>
                </a:solidFill>
                <a:latin typeface="Arial"/>
              </a:defRPr>
            </a:pPr>
            <a:r>
              <a:t>Team Name: Verstappen Paglus  |  UCO Bank Hackathon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