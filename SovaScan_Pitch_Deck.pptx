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judges and members of the evaluation panel. We are Team SovaScan, and today we present our solution for safeguarding banking application codebases. As Public Sector Banks rapidly digitize, securing application development pipelines without leaking sensitive code to third-party cloud services is a critical priority. SovaScan is designed from the ground up to solve this exact compliance and security challenge locally.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banking software security fail? Because our current tools are generic and fragmented. A developer must run five separate tools to scan their code, and then manually try to map those findings onto compliance checklists. Most importantly, generic scanners treat a hardcoded API key in a payment gateway the same as one in a test file—they lack banking domain context. Furthermore, public sector banks cannot upload sensitive source code to external cloud scanners without violating strict data localization rules.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SovaScan provides a unified platform. It performs local, multi-vector scans, translates raw vulnerabilities into context-aware risk metrics using banking-specific logic, maps the failures directly to regulatory controls, and generates safe code patches to fix them automatically. It runs completely locally, making it 100% compliant with banking privacy mandates.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technical moat is contextual scoring. In banking software, a vulnerability is only as dangerous as its context. SovaScan dynamically modifies severity scores. If a vulnerability is found in a test folder, the score drops. If it is in a production config, it rises. If it appears in a file or code block containing banking keywords like 'transaction', 'Aadhaar', or 'UPI', the severity is boosted. This guarantees that your security teams are always focused on the issues that actually threaten financial operations.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moat is our compliance mapping engine. During audits, banks spend weeks compiling spreadsheets to prove they satisfy regulations. SovaScan translates technical findings directly into regulatory status. It maps vulnerability rules directly onto standard controls for NIST-CSF, SOC-2, and OWASP. This gives compliance officers a real-time, auditable dashboard showing exactly which regulatory controls are passing or failing, complete with mapped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SovaScan scans manifest files, configurations, and full commit histories. To remediate issues, we built an active code-patching engine. With one click, the tool patches dependency versions, replaces hardcoded keys with variables, and corrects insecure container settings directly on the filesystem.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to benchmarks, commercial tools like Snyk and SonarQube are cloud-heavy and expensive. Open-source CLI tools lack unified dashboards, compliance mapping, or local remediation. SovaScan delivers all of these features under an open-source license with zero cloud dependency.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practical deployment inside banking infrastructure, SovaScan runs 100% on-premises. It operates in air-gapped environments using local database caches. It deploys via Docker Compose and ensures complete data privacy by masking credentials, meaning no source code or secrets ever leave your firewall.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justify SovaScan at TRL-6/7. It is not just a concept. We have a fully functional web application integrated with an SQLite database and WebSockets. The system is validated by a CI/CD pipeline running 16 automated tests that cover scanner logic, WebSocket events, and physical file patching.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demo, we will trigger a full scan and show live progress streamed via WebSockets. We will explore the findings page, run a one-click auto-fix to patch a configuration file on disk, and review the updated compliance dashboards.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into the existing banking ecosystem is straightforward. SovaScan hooks into developer workstations via git hooks, blocks builds in CI/CD pipelines, and exports industry-standard SARIF/JSON files to feed into the bank's Security Operations Center.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our timeline focuses on extending AST scanning to Java and JS in Q3 2026. In Q4, we will integrate local LLMs to generate intelligent auto-fix patches. By Q1 2027, we plan to implement enterprise LDAP controls, multi-tenant scans, and auditor sign-off workflows.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2011680"/>
            <a:ext cx="3200400" cy="91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10698480" cy="1828800"/>
          </a:xfrm>
          <a:prstGeom prst="rect">
            <a:avLst/>
          </a:prstGeom>
          <a:noFill/>
        </p:spPr>
        <p:txBody>
          <a:bodyPr wrap="none">
            <a:spAutoFit/>
          </a:bodyPr>
          <a:lstStyle/>
          <a:p>
            <a:pPr>
              <a:defRPr sz="7200" b="1">
                <a:solidFill>
                  <a:srgbClr val="FFFFFF"/>
                </a:solidFill>
                <a:latin typeface="Arial"/>
              </a:defRPr>
            </a:pPr>
            <a:r>
              <a:t>SovaScan</a:t>
            </a:r>
          </a:p>
        </p:txBody>
      </p:sp>
      <p:sp>
        <p:nvSpPr>
          <p:cNvPr id="4" name="TextBox 3"/>
          <p:cNvSpPr txBox="1"/>
          <p:nvPr/>
        </p:nvSpPr>
        <p:spPr>
          <a:xfrm>
            <a:off x="731520" y="3840480"/>
            <a:ext cx="10698480" cy="1371600"/>
          </a:xfrm>
          <a:prstGeom prst="rect">
            <a:avLst/>
          </a:prstGeom>
          <a:noFill/>
        </p:spPr>
        <p:txBody>
          <a:bodyPr wrap="square">
            <a:spAutoFit/>
          </a:bodyPr>
          <a:lstStyle/>
          <a:p>
            <a:pPr>
              <a:defRPr sz="2200">
                <a:solidFill>
                  <a:srgbClr val="10B981"/>
                </a:solidFill>
                <a:latin typeface="Arial"/>
              </a:defRPr>
            </a:pPr>
            <a:r>
              <a:t>Automated Multi-Vector Vulnerability Scanner &amp; Regulatory Compliance Mapper</a:t>
            </a:r>
          </a:p>
          <a:p>
            <a:pPr>
              <a:spcBef>
                <a:spcPts val="1000"/>
              </a:spcBef>
              <a:defRPr sz="1600">
                <a:solidFill>
                  <a:srgbClr val="CBD5E1"/>
                </a:solidFill>
                <a:latin typeface="Arial"/>
              </a:defRPr>
            </a:pPr>
            <a:r>
              <a:t>Designed for Secure Public Sector Banking Application Development Pipelines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The Security &amp; Compliance Challenge in Banking IT</a:t>
            </a:r>
          </a:p>
        </p:txBody>
      </p:sp>
      <p:sp>
        <p:nvSpPr>
          <p:cNvPr id="3" name="TextBox 2"/>
          <p:cNvSpPr txBox="1"/>
          <p:nvPr/>
        </p:nvSpPr>
        <p:spPr>
          <a:xfrm>
            <a:off x="731520" y="1645920"/>
            <a:ext cx="10698480" cy="4572000"/>
          </a:xfrm>
          <a:prstGeom prst="rect">
            <a:avLst/>
          </a:prstGeom>
          <a:noFill/>
        </p:spPr>
        <p:txBody>
          <a:bodyPr wrap="square" lIns="0" tIns="0">
            <a:spAutoFit/>
          </a:bodyPr>
          <a:lstStyle/>
          <a:p>
            <a:pPr>
              <a:spcAft>
                <a:spcPts val="1000"/>
              </a:spcAft>
              <a:defRPr sz="1600">
                <a:solidFill>
                  <a:srgbClr val="CBD5E1"/>
                </a:solidFill>
                <a:latin typeface="Arial"/>
              </a:defRPr>
            </a:pPr>
            <a:r>
              <a:t>• Tool Fragmentation: Developers must currently run separate, disconnected scanners for dependency resolution, configuration flaws, and exposed credentials.</a:t>
            </a:r>
          </a:p>
          <a:p>
            <a:pPr>
              <a:spcAft>
                <a:spcPts val="1000"/>
              </a:spcAft>
              <a:defRPr sz="1600">
                <a:solidFill>
                  <a:srgbClr val="CBD5E1"/>
                </a:solidFill>
                <a:latin typeface="Arial"/>
              </a:defRPr>
            </a:pPr>
            <a:r>
              <a:t>• No Domain Awareness: Standard scanners evaluate vulnerabilities using generic ratings, completely ignoring whether the flaw is in a payment gateway or a local test folder.</a:t>
            </a:r>
          </a:p>
          <a:p>
            <a:pPr>
              <a:spcAft>
                <a:spcPts val="1000"/>
              </a:spcAft>
              <a:defRPr sz="1600">
                <a:solidFill>
                  <a:srgbClr val="CBD5E1"/>
                </a:solidFill>
                <a:latin typeface="Arial"/>
              </a:defRPr>
            </a:pPr>
            <a:r>
              <a:t>• Audit Latency: Compliance tracking (SOC-2, NIST-CSF, RBI mandates) is a manual post-development task, creating major delays in deployment timelines.</a:t>
            </a:r>
          </a:p>
          <a:p>
            <a:pPr>
              <a:spcAft>
                <a:spcPts val="1000"/>
              </a:spcAft>
              <a:defRPr sz="1600">
                <a:solidFill>
                  <a:srgbClr val="CBD5E1"/>
                </a:solidFill>
                <a:latin typeface="Arial"/>
              </a:defRPr>
            </a:pPr>
            <a:r>
              <a:t>• Data Privacy Risks: Cloud-hosted checkers require code and configurations to leave the bank's local secure environment, violating data localization guidelines.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SovaScan: Unified, Context-Aware, On-Premises</a:t>
            </a:r>
          </a:p>
        </p:txBody>
      </p:sp>
      <p:sp>
        <p:nvSpPr>
          <p:cNvPr id="3" name="TextBox 2"/>
          <p:cNvSpPr txBox="1"/>
          <p:nvPr/>
        </p:nvSpPr>
        <p:spPr>
          <a:xfrm>
            <a:off x="73152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Unified Scanner Backend</a:t>
            </a:r>
          </a:p>
          <a:p>
            <a:pPr>
              <a:spcAft>
                <a:spcPts val="1000"/>
              </a:spcAft>
              <a:defRPr sz="1600">
                <a:solidFill>
                  <a:srgbClr val="CBD5E1"/>
                </a:solidFill>
                <a:latin typeface="Arial"/>
              </a:defRPr>
            </a:pPr>
            <a:r>
              <a:t>• Unified Multi-Vector Scan: Dependency checking, secrets detection, misconfigurations, and config drift all run inside a single local orchestrator pipeline.</a:t>
            </a:r>
          </a:p>
          <a:p>
            <a:pPr>
              <a:spcAft>
                <a:spcPts val="1000"/>
              </a:spcAft>
              <a:defRPr sz="1600">
                <a:solidFill>
                  <a:srgbClr val="CBD5E1"/>
                </a:solidFill>
                <a:latin typeface="Arial"/>
              </a:defRPr>
            </a:pPr>
            <a:r>
              <a:t>• WebSocket Progress Streaming: Real-time scan execution and finding counts are streamed directly to the dashboard over WebSockets.</a:t>
            </a:r>
          </a:p>
        </p:txBody>
      </p:sp>
      <p:sp>
        <p:nvSpPr>
          <p:cNvPr id="4" name="TextBox 3"/>
          <p:cNvSpPr txBox="1"/>
          <p:nvPr/>
        </p:nvSpPr>
        <p:spPr>
          <a:xfrm>
            <a:off x="640080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Auditing &amp; Context Engine</a:t>
            </a:r>
          </a:p>
          <a:p>
            <a:pPr>
              <a:spcAft>
                <a:spcPts val="1000"/>
              </a:spcAft>
              <a:defRPr sz="1600">
                <a:solidFill>
                  <a:srgbClr val="CBD5E1"/>
                </a:solidFill>
                <a:latin typeface="Arial"/>
              </a:defRPr>
            </a:pPr>
            <a:r>
              <a:t>• Context-Aware Severity Scoring: Dynamically elevates or lowers risk ratings based on file locations and financial keywords.</a:t>
            </a:r>
          </a:p>
          <a:p>
            <a:pPr>
              <a:spcAft>
                <a:spcPts val="1000"/>
              </a:spcAft>
              <a:defRPr sz="1600">
                <a:solidFill>
                  <a:srgbClr val="CBD5E1"/>
                </a:solidFill>
                <a:latin typeface="Arial"/>
              </a:defRPr>
            </a:pPr>
            <a:r>
              <a:t>• Automatic Compliance Mapping: Automatically aligns security findings with specific SOC-2, NIST-CSF, and OWASP Top 10 control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Contextual Severity Scoring with Banking Modifiers</a:t>
            </a:r>
          </a:p>
        </p:txBody>
      </p:sp>
      <p:sp>
        <p:nvSpPr>
          <p:cNvPr id="3" name="TextBox 2"/>
          <p:cNvSpPr txBox="1"/>
          <p:nvPr/>
        </p:nvSpPr>
        <p:spPr>
          <a:xfrm>
            <a:off x="73152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Risk Contextualization</a:t>
            </a:r>
          </a:p>
          <a:p>
            <a:pPr>
              <a:spcAft>
                <a:spcPts val="1000"/>
              </a:spcAft>
              <a:defRPr sz="1600">
                <a:solidFill>
                  <a:srgbClr val="CBD5E1"/>
                </a:solidFill>
                <a:latin typeface="Arial"/>
              </a:defRPr>
            </a:pPr>
            <a:r>
              <a:t>• Base Scoring Scale: Standard 5-tier base rating system (Critical, High, Medium, Low, Info).</a:t>
            </a:r>
          </a:p>
          <a:p>
            <a:pPr>
              <a:spcAft>
                <a:spcPts val="1000"/>
              </a:spcAft>
              <a:defRPr sz="1600">
                <a:solidFill>
                  <a:srgbClr val="CBD5E1"/>
                </a:solidFill>
                <a:latin typeface="Arial"/>
              </a:defRPr>
            </a:pPr>
            <a:r>
              <a:t>• Production Directory Boost (+1.5): Automatically raises the score if the vulnerability lies in a release configuration or production environment setting.</a:t>
            </a:r>
          </a:p>
          <a:p>
            <a:pPr>
              <a:spcAft>
                <a:spcPts val="1000"/>
              </a:spcAft>
              <a:defRPr sz="1600">
                <a:solidFill>
                  <a:srgbClr val="CBD5E1"/>
                </a:solidFill>
                <a:latin typeface="Arial"/>
              </a:defRPr>
            </a:pPr>
            <a:r>
              <a:t>• Test Folder Mitigation (-2.0): Lowers severity for findings caught in test, example, demo, or mockup folders.</a:t>
            </a:r>
          </a:p>
          <a:p>
            <a:pPr>
              <a:spcAft>
                <a:spcPts val="1000"/>
              </a:spcAft>
              <a:defRPr sz="1600">
                <a:solidFill>
                  <a:srgbClr val="CBD5E1"/>
                </a:solidFill>
                <a:latin typeface="Arial"/>
              </a:defRPr>
            </a:pPr>
            <a:r>
              <a:t>• Alert Deflation: Prevents development teams from wasting time on low-risk issues, focusing energy on critical areas.</a:t>
            </a:r>
          </a:p>
        </p:txBody>
      </p:sp>
      <p:sp>
        <p:nvSpPr>
          <p:cNvPr id="4" name="Rounded Rectangle 3"/>
          <p:cNvSpPr/>
          <p:nvPr/>
        </p:nvSpPr>
        <p:spPr>
          <a:xfrm>
            <a:off x="6400800" y="1645920"/>
            <a:ext cx="5029200" cy="438912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2200" b="1">
                <a:solidFill>
                  <a:srgbClr val="10B981"/>
                </a:solidFill>
                <a:latin typeface="Arial"/>
              </a:defRPr>
            </a:pPr>
            <a:r>
              <a:t>🏦 Banking Domain Modifier (+1.0)</a:t>
            </a:r>
          </a:p>
          <a:p>
            <a:pPr>
              <a:spcBef>
                <a:spcPts val="800"/>
              </a:spcBef>
              <a:defRPr sz="1600">
                <a:solidFill>
                  <a:srgbClr val="CBD5E1"/>
                </a:solidFill>
                <a:latin typeface="Arial"/>
              </a:defRPr>
            </a:pPr>
            <a:r>
              <a:t>Automatically elevates severity by +1.0 point if the code line, variable assignment, or file path matches any of our 30+ financial keywords:</a:t>
            </a:r>
            <a:br/>
            <a:br/>
            <a:r>
              <a:t>payment, transaction, credit, banking, upi, neft, kyc, aadhaar, pan, merchant, routing_number, ledger, cardholder, cvv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Automated Compliance Mapping &amp; Audit Checklists</a:t>
            </a:r>
          </a:p>
        </p:txBody>
      </p:sp>
      <p:sp>
        <p:nvSpPr>
          <p:cNvPr id="3" name="TextBox 2"/>
          <p:cNvSpPr txBox="1"/>
          <p:nvPr/>
        </p:nvSpPr>
        <p:spPr>
          <a:xfrm>
            <a:off x="73152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Audit Readiness</a:t>
            </a:r>
          </a:p>
          <a:p>
            <a:pPr>
              <a:spcAft>
                <a:spcPts val="1000"/>
              </a:spcAft>
              <a:defRPr sz="1600">
                <a:solidFill>
                  <a:srgbClr val="CBD5E1"/>
                </a:solidFill>
                <a:latin typeface="Arial"/>
              </a:defRPr>
            </a:pPr>
            <a:r>
              <a:t>• Framework Support: Maps findings onto NIST-CSF controls, SOC-2 criteria, and the OWASP Top 10 lists.</a:t>
            </a:r>
          </a:p>
          <a:p>
            <a:pPr>
              <a:spcAft>
                <a:spcPts val="1000"/>
              </a:spcAft>
              <a:defRPr sz="1600">
                <a:solidFill>
                  <a:srgbClr val="CBD5E1"/>
                </a:solidFill>
                <a:latin typeface="Arial"/>
              </a:defRPr>
            </a:pPr>
            <a:r>
              <a:t>• High-Severity Filter: Only findings rated Medium, High, or Critical trigger compliance failures. Low and Info noise is filtered out.</a:t>
            </a:r>
          </a:p>
          <a:p>
            <a:pPr>
              <a:spcAft>
                <a:spcPts val="1000"/>
              </a:spcAft>
              <a:defRPr sz="1600">
                <a:solidFill>
                  <a:srgbClr val="CBD5E1"/>
                </a:solidFill>
                <a:latin typeface="Arial"/>
              </a:defRPr>
            </a:pPr>
            <a:r>
              <a:t>• Interactive Checklist: Integrates findings into collapsible accordion checksheets showing exactly which requirements are violated.</a:t>
            </a:r>
          </a:p>
        </p:txBody>
      </p:sp>
      <p:sp>
        <p:nvSpPr>
          <p:cNvPr id="4" name="Rounded Rectangle 3"/>
          <p:cNvSpPr/>
          <p:nvPr/>
        </p:nvSpPr>
        <p:spPr>
          <a:xfrm>
            <a:off x="6400800" y="1645920"/>
            <a:ext cx="5029200" cy="438912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2200" b="1">
                <a:solidFill>
                  <a:srgbClr val="10B981"/>
                </a:solidFill>
                <a:latin typeface="Arial"/>
              </a:defRPr>
            </a:pPr>
            <a:r>
              <a:t>📈 Standard Compliance Scoring</a:t>
            </a:r>
          </a:p>
          <a:p>
            <a:pPr>
              <a:spcBef>
                <a:spcPts val="800"/>
              </a:spcBef>
              <a:defRPr sz="1600">
                <a:solidFill>
                  <a:srgbClr val="CBD5E1"/>
                </a:solidFill>
                <a:latin typeface="Arial"/>
              </a:defRPr>
            </a:pPr>
            <a:r>
              <a:t>• Passed / (Total - N/A) * 100</a:t>
            </a:r>
            <a:br/>
            <a:r>
              <a:t>Excludes not-applicable controls from the scoring baseline, following industry-standard audit guidelines.</a:t>
            </a:r>
            <a:br/>
            <a:br/>
            <a:r>
              <a:t>• Deduplication:</a:t>
            </a:r>
            <a:br/>
            <a:r>
              <a:t>Each unique scanner rule ID counts as exactly one failed control, ensuring multiple findings under a single rule do not break alignment reporting.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Deep Git History Scanner &amp; Direct File Auto-Patches</a:t>
            </a:r>
          </a:p>
        </p:txBody>
      </p:sp>
      <p:sp>
        <p:nvSpPr>
          <p:cNvPr id="3" name="TextBox 2"/>
          <p:cNvSpPr txBox="1"/>
          <p:nvPr/>
        </p:nvSpPr>
        <p:spPr>
          <a:xfrm>
            <a:off x="73152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Deep Vector Analysis</a:t>
            </a:r>
          </a:p>
          <a:p>
            <a:pPr>
              <a:spcAft>
                <a:spcPts val="1000"/>
              </a:spcAft>
              <a:defRPr sz="1600">
                <a:solidFill>
                  <a:srgbClr val="CBD5E1"/>
                </a:solidFill>
                <a:latin typeface="Arial"/>
              </a:defRPr>
            </a:pPr>
            <a:r>
              <a:t>• Git Commit Log Auditing: Inspects all historical commits across all branches using 'git log --all -p' to find deleted secrets.</a:t>
            </a:r>
          </a:p>
          <a:p>
            <a:pPr>
              <a:spcAft>
                <a:spcPts val="1000"/>
              </a:spcAft>
              <a:defRPr sz="1600">
                <a:solidFill>
                  <a:srgbClr val="CBD5E1"/>
                </a:solidFill>
                <a:latin typeface="Arial"/>
              </a:defRPr>
            </a:pPr>
            <a:r>
              <a:t>• Dual Secrets Detection: Combines 15+ regex patterns with Shannon entropy analysis to identify hardcoded API credentials.</a:t>
            </a:r>
          </a:p>
          <a:p>
            <a:pPr>
              <a:spcAft>
                <a:spcPts val="1000"/>
              </a:spcAft>
              <a:defRPr sz="1600">
                <a:solidFill>
                  <a:srgbClr val="CBD5E1"/>
                </a:solidFill>
                <a:latin typeface="Arial"/>
              </a:defRPr>
            </a:pPr>
            <a:r>
              <a:t>• SAST Scanner Integration: Runs Bandit and Semgrep locally as subprocesses, unifying results dynamically.</a:t>
            </a:r>
          </a:p>
        </p:txBody>
      </p:sp>
      <p:sp>
        <p:nvSpPr>
          <p:cNvPr id="4" name="Rounded Rectangle 3"/>
          <p:cNvSpPr/>
          <p:nvPr/>
        </p:nvSpPr>
        <p:spPr>
          <a:xfrm>
            <a:off x="6400800" y="1645920"/>
            <a:ext cx="5029200" cy="4389120"/>
          </a:xfrm>
          <a:prstGeom prst="round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2200" b="1">
                <a:solidFill>
                  <a:srgbClr val="F59E0B"/>
                </a:solidFill>
                <a:latin typeface="Arial"/>
              </a:defRPr>
            </a:pPr>
            <a:r>
              <a:t>🛠️ Disk Auto-Remediation</a:t>
            </a:r>
          </a:p>
          <a:p>
            <a:pPr>
              <a:spcBef>
                <a:spcPts val="800"/>
              </a:spcBef>
              <a:defRPr sz="1600">
                <a:solidFill>
                  <a:srgbClr val="CBD5E1"/>
                </a:solidFill>
                <a:latin typeface="Arial"/>
              </a:defRPr>
            </a:pPr>
            <a:r>
              <a:t>• Secret Masking:</a:t>
            </a:r>
            <a:br/>
            <a:r>
              <a:t>Replaces hardcoded keys with variables (e.g. ${{ secrets.RULE }}).</a:t>
            </a:r>
            <a:br/>
            <a:br/>
            <a:r>
              <a:t>• Version Upgrades:</a:t>
            </a:r>
            <a:br/>
            <a:r>
              <a:t>Automatically adjusts vulnerable requirements in config manifests.</a:t>
            </a:r>
            <a:br/>
            <a:br/>
            <a:r>
              <a:t>• Config Fixes:</a:t>
            </a:r>
            <a:br/>
            <a:r>
              <a:t>Patches Dockerfiles, CORS, and settings directly on the filesystem.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SovaScan vs. Traditional Scanners</a:t>
            </a:r>
          </a:p>
        </p:txBody>
      </p:sp>
      <p:sp>
        <p:nvSpPr>
          <p:cNvPr id="3" name="TextBox 2"/>
          <p:cNvSpPr txBox="1"/>
          <p:nvPr/>
        </p:nvSpPr>
        <p:spPr>
          <a:xfrm>
            <a:off x="73152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Commercial SaaS Scanners</a:t>
            </a:r>
          </a:p>
          <a:p>
            <a:pPr>
              <a:spcAft>
                <a:spcPts val="1000"/>
              </a:spcAft>
              <a:defRPr sz="1600">
                <a:solidFill>
                  <a:srgbClr val="CBD5E1"/>
                </a:solidFill>
                <a:latin typeface="Arial"/>
              </a:defRPr>
            </a:pPr>
            <a:r>
              <a:t>Snyk / SonarQube (SaaS Enterprise):</a:t>
            </a:r>
          </a:p>
          <a:p>
            <a:pPr>
              <a:spcAft>
                <a:spcPts val="1000"/>
              </a:spcAft>
              <a:defRPr sz="1600">
                <a:solidFill>
                  <a:srgbClr val="CBD5E1"/>
                </a:solidFill>
                <a:latin typeface="Arial"/>
              </a:defRPr>
            </a:pPr>
            <a:r>
              <a:t>• Requires code to be uploaded to cloud databases, posing data leakage concerns.</a:t>
            </a:r>
          </a:p>
          <a:p>
            <a:pPr>
              <a:spcAft>
                <a:spcPts val="1000"/>
              </a:spcAft>
              <a:defRPr sz="1600">
                <a:solidFill>
                  <a:srgbClr val="CBD5E1"/>
                </a:solidFill>
                <a:latin typeface="Arial"/>
              </a:defRPr>
            </a:pPr>
            <a:r>
              <a:t>• Highly expensive commercial enterprise licensing fees.</a:t>
            </a:r>
          </a:p>
          <a:p>
            <a:pPr>
              <a:spcAft>
                <a:spcPts val="1000"/>
              </a:spcAft>
              <a:defRPr sz="1600">
                <a:solidFill>
                  <a:srgbClr val="CBD5E1"/>
                </a:solidFill>
                <a:latin typeface="Arial"/>
              </a:defRPr>
            </a:pPr>
            <a:r>
              <a:t>• Lacks banking-specific contextual risk modifiers.</a:t>
            </a:r>
          </a:p>
        </p:txBody>
      </p:sp>
      <p:sp>
        <p:nvSpPr>
          <p:cNvPr id="4" name="TextBox 3"/>
          <p:cNvSpPr txBox="1"/>
          <p:nvPr/>
        </p:nvSpPr>
        <p:spPr>
          <a:xfrm>
            <a:off x="640080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Open-Source CLI Tools</a:t>
            </a:r>
          </a:p>
          <a:p>
            <a:pPr>
              <a:spcAft>
                <a:spcPts val="1000"/>
              </a:spcAft>
              <a:defRPr sz="1600">
                <a:solidFill>
                  <a:srgbClr val="CBD5E1"/>
                </a:solidFill>
                <a:latin typeface="Arial"/>
              </a:defRPr>
            </a:pPr>
            <a:r>
              <a:t>Trivy / Gitleaks (Developer CLI):</a:t>
            </a:r>
          </a:p>
          <a:p>
            <a:pPr>
              <a:spcAft>
                <a:spcPts val="1000"/>
              </a:spcAft>
              <a:defRPr sz="1600">
                <a:solidFill>
                  <a:srgbClr val="CBD5E1"/>
                </a:solidFill>
                <a:latin typeface="Arial"/>
              </a:defRPr>
            </a:pPr>
            <a:r>
              <a:t>• Operates as isolated CLI scanners without centralized reporting or frameworks integration.</a:t>
            </a:r>
          </a:p>
          <a:p>
            <a:pPr>
              <a:spcAft>
                <a:spcPts val="1000"/>
              </a:spcAft>
              <a:defRPr sz="1600">
                <a:solidFill>
                  <a:srgbClr val="CBD5E1"/>
                </a:solidFill>
                <a:latin typeface="Arial"/>
              </a:defRPr>
            </a:pPr>
            <a:r>
              <a:t>• No native compliance checklist or audit scoring.</a:t>
            </a:r>
          </a:p>
          <a:p>
            <a:pPr>
              <a:spcAft>
                <a:spcPts val="1000"/>
              </a:spcAft>
              <a:defRPr sz="1600">
                <a:solidFill>
                  <a:srgbClr val="CBD5E1"/>
                </a:solidFill>
                <a:latin typeface="Arial"/>
              </a:defRPr>
            </a:pPr>
            <a:r>
              <a:t>• No active code patching or auto-fixes on disk.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On-Premises Security &amp; Enterprise Deployment</a:t>
            </a:r>
          </a:p>
        </p:txBody>
      </p:sp>
      <p:sp>
        <p:nvSpPr>
          <p:cNvPr id="3" name="TextBox 2"/>
          <p:cNvSpPr txBox="1"/>
          <p:nvPr/>
        </p:nvSpPr>
        <p:spPr>
          <a:xfrm>
            <a:off x="731520" y="1645920"/>
            <a:ext cx="10698480" cy="4572000"/>
          </a:xfrm>
          <a:prstGeom prst="rect">
            <a:avLst/>
          </a:prstGeom>
          <a:noFill/>
        </p:spPr>
        <p:txBody>
          <a:bodyPr wrap="square" lIns="0" tIns="0">
            <a:spAutoFit/>
          </a:bodyPr>
          <a:lstStyle/>
          <a:p>
            <a:pPr>
              <a:spcAft>
                <a:spcPts val="1000"/>
              </a:spcAft>
              <a:defRPr sz="1600">
                <a:solidFill>
                  <a:srgbClr val="CBD5E1"/>
                </a:solidFill>
                <a:latin typeface="Arial"/>
              </a:defRPr>
            </a:pPr>
            <a:r>
              <a:t>• 100% Air-Gapped Capable: Operates fully inside secure local networks using cached rules and local database CVE checks.</a:t>
            </a:r>
          </a:p>
          <a:p>
            <a:pPr>
              <a:spcAft>
                <a:spcPts val="1000"/>
              </a:spcAft>
              <a:defRPr sz="1600">
                <a:solidFill>
                  <a:srgbClr val="CBD5E1"/>
                </a:solidFill>
                <a:latin typeface="Arial"/>
              </a:defRPr>
            </a:pPr>
            <a:r>
              <a:t>• Database Versatility: Uses SQLite for developer workspaces and connects to robust PostgreSQL instances for enterprise scaling.</a:t>
            </a:r>
          </a:p>
          <a:p>
            <a:pPr>
              <a:spcAft>
                <a:spcPts val="1000"/>
              </a:spcAft>
              <a:defRPr sz="1600">
                <a:solidFill>
                  <a:srgbClr val="CBD5E1"/>
                </a:solidFill>
                <a:latin typeface="Arial"/>
              </a:defRPr>
            </a:pPr>
            <a:r>
              <a:t>• Secure Credential Masking: Redacts exposed credentials before writing findings to database, ensuring zero database leak.</a:t>
            </a:r>
          </a:p>
          <a:p>
            <a:pPr>
              <a:spcAft>
                <a:spcPts val="1000"/>
              </a:spcAft>
              <a:defRPr sz="1600">
                <a:solidFill>
                  <a:srgbClr val="CBD5E1"/>
                </a:solidFill>
                <a:latin typeface="Arial"/>
              </a:defRPr>
            </a:pPr>
            <a:r>
              <a:t>• Widescreen React Dashboard: Polished dark-mode web console with loading states, gauge statistics, and charts.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TRL-6/7: Operational System Prototype</a:t>
            </a:r>
          </a:p>
        </p:txBody>
      </p:sp>
      <p:sp>
        <p:nvSpPr>
          <p:cNvPr id="3" name="TextBox 2"/>
          <p:cNvSpPr txBox="1"/>
          <p:nvPr/>
        </p:nvSpPr>
        <p:spPr>
          <a:xfrm>
            <a:off x="73152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System Stack</a:t>
            </a:r>
          </a:p>
          <a:p>
            <a:pPr>
              <a:spcAft>
                <a:spcPts val="1000"/>
              </a:spcAft>
              <a:defRPr sz="1600">
                <a:solidFill>
                  <a:srgbClr val="CBD5E1"/>
                </a:solidFill>
                <a:latin typeface="Arial"/>
              </a:defRPr>
            </a:pPr>
            <a:r>
              <a:t>• React 18 &amp; TypeScript: Fast, component-based frontend using Zustand state management and Recharts animations.</a:t>
            </a:r>
          </a:p>
          <a:p>
            <a:pPr>
              <a:spcAft>
                <a:spcPts val="1000"/>
              </a:spcAft>
              <a:defRPr sz="1600">
                <a:solidFill>
                  <a:srgbClr val="CBD5E1"/>
                </a:solidFill>
                <a:latin typeface="Arial"/>
              </a:defRPr>
            </a:pPr>
            <a:r>
              <a:t>• FastAPI &amp; SQLAlchemy 2.0: High-performance Python backend coupled to SQLAlchemy database schemas.</a:t>
            </a:r>
          </a:p>
          <a:p>
            <a:pPr>
              <a:spcAft>
                <a:spcPts val="1000"/>
              </a:spcAft>
              <a:defRPr sz="1600">
                <a:solidFill>
                  <a:srgbClr val="CBD5E1"/>
                </a:solidFill>
                <a:latin typeface="Arial"/>
              </a:defRPr>
            </a:pPr>
            <a:r>
              <a:t>• WebSocket Streaming: Native async progress queues broadcast live state updates to connected browsers.</a:t>
            </a:r>
          </a:p>
        </p:txBody>
      </p:sp>
      <p:sp>
        <p:nvSpPr>
          <p:cNvPr id="4" name="TextBox 3"/>
          <p:cNvSpPr txBox="1"/>
          <p:nvPr/>
        </p:nvSpPr>
        <p:spPr>
          <a:xfrm>
            <a:off x="640080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Verification &amp; Pipeline</a:t>
            </a:r>
          </a:p>
          <a:p>
            <a:pPr>
              <a:spcAft>
                <a:spcPts val="1000"/>
              </a:spcAft>
              <a:defRPr sz="1600">
                <a:solidFill>
                  <a:srgbClr val="CBD5E1"/>
                </a:solidFill>
                <a:latin typeface="Arial"/>
              </a:defRPr>
            </a:pPr>
            <a:r>
              <a:t>• Automated Test Validation: Verified by a CI/CD build suite running 16 automated tests on every code change.</a:t>
            </a:r>
          </a:p>
          <a:p>
            <a:pPr>
              <a:spcAft>
                <a:spcPts val="1000"/>
              </a:spcAft>
              <a:defRPr sz="1600">
                <a:solidFill>
                  <a:srgbClr val="CBD5E1"/>
                </a:solidFill>
                <a:latin typeface="Arial"/>
              </a:defRPr>
            </a:pPr>
            <a:r>
              <a:t>• Tested Capabilities: Cover CLI commands, API routing, database models, WebSocket queues, and physical file updates on disk.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Product Demonstration Sequence (5 Minutes)</a:t>
            </a:r>
          </a:p>
        </p:txBody>
      </p:sp>
      <p:sp>
        <p:nvSpPr>
          <p:cNvPr id="3" name="TextBox 2"/>
          <p:cNvSpPr txBox="1"/>
          <p:nvPr/>
        </p:nvSpPr>
        <p:spPr>
          <a:xfrm>
            <a:off x="73152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Analysis Phase</a:t>
            </a:r>
          </a:p>
          <a:p>
            <a:pPr>
              <a:spcAft>
                <a:spcPts val="1000"/>
              </a:spcAft>
              <a:defRPr sz="1600">
                <a:solidFill>
                  <a:srgbClr val="CBD5E1"/>
                </a:solidFill>
                <a:latin typeface="Arial"/>
              </a:defRPr>
            </a:pPr>
            <a:r>
              <a:t>1. Start Scan: Select a target repository (local folder or GitHub URL) and trigger a Full Scan from the dashboard.</a:t>
            </a:r>
          </a:p>
          <a:p>
            <a:pPr>
              <a:spcAft>
                <a:spcPts val="1000"/>
              </a:spcAft>
              <a:defRPr sz="1600">
                <a:solidFill>
                  <a:srgbClr val="CBD5E1"/>
                </a:solidFill>
                <a:latin typeface="Arial"/>
              </a:defRPr>
            </a:pPr>
            <a:r>
              <a:t>2. Real-Time Streaming: Observe WebSocket updates streaming progress bar percentages and finding counts dynamically.</a:t>
            </a:r>
          </a:p>
        </p:txBody>
      </p:sp>
      <p:sp>
        <p:nvSpPr>
          <p:cNvPr id="4" name="TextBox 3"/>
          <p:cNvSpPr txBox="1"/>
          <p:nvPr/>
        </p:nvSpPr>
        <p:spPr>
          <a:xfrm>
            <a:off x="6400800" y="1645920"/>
            <a:ext cx="5029200" cy="4572000"/>
          </a:xfrm>
          <a:prstGeom prst="rect">
            <a:avLst/>
          </a:prstGeom>
          <a:noFill/>
        </p:spPr>
        <p:txBody>
          <a:bodyPr wrap="square" lIns="0" tIns="0">
            <a:spAutoFit/>
          </a:bodyPr>
          <a:lstStyle/>
          <a:p>
            <a:pPr>
              <a:spcAft>
                <a:spcPts val="1400"/>
              </a:spcAft>
              <a:defRPr sz="2000" b="1">
                <a:solidFill>
                  <a:srgbClr val="FFFFFF"/>
                </a:solidFill>
                <a:latin typeface="Arial"/>
              </a:defRPr>
            </a:pPr>
            <a:r>
              <a:t>Remediation &amp; Compliance</a:t>
            </a:r>
          </a:p>
          <a:p>
            <a:pPr>
              <a:spcAft>
                <a:spcPts val="1000"/>
              </a:spcAft>
              <a:defRPr sz="1600">
                <a:solidFill>
                  <a:srgbClr val="CBD5E1"/>
                </a:solidFill>
                <a:latin typeface="Arial"/>
              </a:defRPr>
            </a:pPr>
            <a:r>
              <a:t>3. Findings &amp; Auto-Fix: Review discovered misconfigurations, choose a finding, and apply auto-fix. Show direct changes written on disk.</a:t>
            </a:r>
          </a:p>
          <a:p>
            <a:pPr>
              <a:spcAft>
                <a:spcPts val="1000"/>
              </a:spcAft>
              <a:defRPr sz="1600">
                <a:solidFill>
                  <a:srgbClr val="CBD5E1"/>
                </a:solidFill>
                <a:latin typeface="Arial"/>
              </a:defRPr>
            </a:pPr>
            <a:r>
              <a:t>4. Compliance Auditing: Review updated circular gauges and control checklists for NIST-CSF, SOC-2, and OWASP-10.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Seamless DevSecOps Pipeline Integration</a:t>
            </a:r>
          </a:p>
        </p:txBody>
      </p:sp>
      <p:sp>
        <p:nvSpPr>
          <p:cNvPr id="3" name="TextBox 2"/>
          <p:cNvSpPr txBox="1"/>
          <p:nvPr/>
        </p:nvSpPr>
        <p:spPr>
          <a:xfrm>
            <a:off x="731520" y="1645920"/>
            <a:ext cx="10698480" cy="4572000"/>
          </a:xfrm>
          <a:prstGeom prst="rect">
            <a:avLst/>
          </a:prstGeom>
          <a:noFill/>
        </p:spPr>
        <p:txBody>
          <a:bodyPr wrap="square" lIns="0" tIns="0">
            <a:spAutoFit/>
          </a:bodyPr>
          <a:lstStyle/>
          <a:p>
            <a:pPr>
              <a:spcAft>
                <a:spcPts val="1000"/>
              </a:spcAft>
              <a:defRPr sz="1600">
                <a:solidFill>
                  <a:srgbClr val="CBD5E1"/>
                </a:solidFill>
                <a:latin typeface="Arial"/>
              </a:defRPr>
            </a:pPr>
            <a:r>
              <a:t>• Git Pre-Commit Hooks: Runs a fast, local check on the developer's machine to block commits containing plaintext keys or configurations.</a:t>
            </a:r>
          </a:p>
          <a:p>
            <a:pPr>
              <a:spcAft>
                <a:spcPts val="1000"/>
              </a:spcAft>
              <a:defRPr sz="1600">
                <a:solidFill>
                  <a:srgbClr val="CBD5E1"/>
                </a:solidFill>
                <a:latin typeface="Arial"/>
              </a:defRPr>
            </a:pPr>
            <a:r>
              <a:t>• CI/CD Build Gatekeeper: Integrates into Jenkins, GitLab CI, or GitHub Actions. Blocks production compilation if Critical/High items are found.</a:t>
            </a:r>
          </a:p>
          <a:p>
            <a:pPr>
              <a:spcAft>
                <a:spcPts val="1000"/>
              </a:spcAft>
              <a:defRPr sz="1600">
                <a:solidFill>
                  <a:srgbClr val="CBD5E1"/>
                </a:solidFill>
                <a:latin typeface="Arial"/>
              </a:defRPr>
            </a:pPr>
            <a:r>
              <a:t>• REST API &amp; SARIF Outputs: Programmatically exports findings to XML/SARIF formats, feeding directly into banking SIEM/SOC platforms.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tIns="0" lIns="0">
            <a:spAutoFit/>
          </a:bodyPr>
          <a:lstStyle/>
          <a:p>
            <a:pPr>
              <a:defRPr sz="3600" b="1">
                <a:solidFill>
                  <a:srgbClr val="FFFFFF"/>
                </a:solidFill>
                <a:latin typeface="Arial"/>
              </a:defRPr>
            </a:pPr>
            <a:r>
              <a:t>Future Milestones &amp; Project Timeline</a:t>
            </a:r>
          </a:p>
        </p:txBody>
      </p:sp>
      <p:sp>
        <p:nvSpPr>
          <p:cNvPr id="3" name="TextBox 2"/>
          <p:cNvSpPr txBox="1"/>
          <p:nvPr/>
        </p:nvSpPr>
        <p:spPr>
          <a:xfrm>
            <a:off x="731520" y="1645920"/>
            <a:ext cx="10698480" cy="4572000"/>
          </a:xfrm>
          <a:prstGeom prst="rect">
            <a:avLst/>
          </a:prstGeom>
          <a:noFill/>
        </p:spPr>
        <p:txBody>
          <a:bodyPr wrap="square" lIns="0" tIns="0">
            <a:spAutoFit/>
          </a:bodyPr>
          <a:lstStyle/>
          <a:p>
            <a:pPr>
              <a:spcAft>
                <a:spcPts val="1000"/>
              </a:spcAft>
              <a:defRPr sz="1600">
                <a:solidFill>
                  <a:srgbClr val="CBD5E1"/>
                </a:solidFill>
                <a:latin typeface="Arial"/>
              </a:defRPr>
            </a:pPr>
            <a:r>
              <a:t>• Q3 2026: Multi-Language Manifest Audits — Expand dependency resolver mapping to Rust (Cargo.lock) and Go (go.mod) ecosystems.</a:t>
            </a:r>
          </a:p>
          <a:p>
            <a:pPr>
              <a:spcAft>
                <a:spcPts val="1000"/>
              </a:spcAft>
              <a:defRPr sz="1600">
                <a:solidFill>
                  <a:srgbClr val="CBD5E1"/>
                </a:solidFill>
                <a:latin typeface="Arial"/>
              </a:defRPr>
            </a:pPr>
            <a:r>
              <a:t>• Q4 2026: Local AI Auto-Fix Integration — Wire the remediation engine to offline local LLMs (like Gemma-2B) for advanced security patches.</a:t>
            </a:r>
          </a:p>
          <a:p>
            <a:pPr>
              <a:spcAft>
                <a:spcPts val="1000"/>
              </a:spcAft>
              <a:defRPr sz="1600">
                <a:solidFill>
                  <a:srgbClr val="CBD5E1"/>
                </a:solidFill>
                <a:latin typeface="Arial"/>
              </a:defRPr>
            </a:pPr>
            <a:r>
              <a:t>• Q1 2027: Enterprise Role-Based Access Control — Implement Active Directory / LDAP user permissions, scans isolation, and centralized audit approvals.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