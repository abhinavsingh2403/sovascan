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D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ovascan_owl_logo_17844904696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548640"/>
            <a:ext cx="22860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017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SovaScan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4114800"/>
            <a:ext cx="27432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9768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Calibri"/>
              </a:defRPr>
            </a:pPr>
            <a:r>
              <a:t>Intelligent Security Analyzer for Financial &amp; Banking Codebases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30352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366F1"/>
                </a:solidFill>
                <a:latin typeface="Calibri"/>
              </a:defRPr>
            </a:pPr>
            <a:r>
              <a:t>UCO Bank National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585216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Team SovaScan  |  Abhinav Singh &amp;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Why banking codebases are critically vulnerable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3383280" cy="3474720"/>
          </a:xfrm>
          <a:prstGeom prst="roundRect">
            <a:avLst/>
          </a:prstGeom>
          <a:solidFill>
            <a:srgbClr val="1419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3383280" cy="508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23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⏰  Manual Audits Are Slow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384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Security audits in banks happen only 1-2 times per year. Between audits, thousands of lines of vulnerable code ship to production undetected.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194560"/>
            <a:ext cx="3383280" cy="3474720"/>
          </a:xfrm>
          <a:prstGeom prst="roundRect">
            <a:avLst/>
          </a:prstGeom>
          <a:solidFill>
            <a:srgbClr val="1419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0560" y="2194560"/>
            <a:ext cx="3383280" cy="50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3723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🔑  Leaked Credentials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78384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API keys, database passwords, and PII tokens are accidentally committed to Git repositories. Traditional tools miss secrets embedded in configuration files and environment scripts.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194560"/>
            <a:ext cx="3383280" cy="3474720"/>
          </a:xfrm>
          <a:prstGeom prst="roundRect">
            <a:avLst/>
          </a:prstGeom>
          <a:solidFill>
            <a:srgbClr val="1419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0" y="2194560"/>
            <a:ext cx="3383280" cy="508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3723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📋  Compliance Mapping Gaps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8384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RBI-CSF, PCI-DSS, and NIST-CSF compliance is tracked manually in spreadsheets. There is no automated link between code vulnerabilities and regulatory control failures.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SovaScan  |  UCO Bank Hackathon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188720"/>
          </a:xfrm>
          <a:prstGeom prst="roundRect">
            <a:avLst/>
          </a:prstGeom>
          <a:solidFill>
            <a:srgbClr val="1419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SovaScan is a continuous compliance gatekeeper that automatically scans banking codebases for vulnerabilities, maps findings to regulatory frameworks (RBI-CSF, NIST, SOC-2, OWASP), and alerts security teams in real-time.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2423160" cy="3200400"/>
          </a:xfrm>
          <a:prstGeom prst="roundRect">
            <a:avLst/>
          </a:prstGeom>
          <a:solidFill>
            <a:srgbClr val="1419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2423160" cy="508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9532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🔍  Multi-Vector</a:t>
            </a:r>
            <a:br/>
            <a:r>
              <a:t>Scanning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06800"/>
            <a:ext cx="2057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Dependencies, secrets,</a:t>
            </a:r>
            <a:br/>
            <a:r>
              <a:t>SAST, Git history,</a:t>
            </a:r>
            <a:br/>
            <a:r>
              <a:t>misconfigurations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3017520"/>
            <a:ext cx="2423160" cy="3200400"/>
          </a:xfrm>
          <a:prstGeom prst="roundRect">
            <a:avLst/>
          </a:prstGeom>
          <a:solidFill>
            <a:srgbClr val="14192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83280" y="3017520"/>
            <a:ext cx="2423160" cy="508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319532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⚖️  Compliance</a:t>
            </a:r>
            <a:br/>
            <a:r>
              <a:t>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606800"/>
            <a:ext cx="2057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Auto-map to NIST-CSF,</a:t>
            </a:r>
            <a:br/>
            <a:r>
              <a:t>SOC-2, OWASP-10,</a:t>
            </a:r>
            <a:br/>
            <a:r>
              <a:t>RBI-CSF controls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017520"/>
            <a:ext cx="2423160" cy="3200400"/>
          </a:xfrm>
          <a:prstGeom prst="roundRect">
            <a:avLst/>
          </a:prstGeom>
          <a:solidFill>
            <a:srgbClr val="1419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0" y="3017520"/>
            <a:ext cx="2423160" cy="50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319532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📡  Real-Time</a:t>
            </a:r>
            <a:br/>
            <a:r>
              <a:t>Alerting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606800"/>
            <a:ext cx="2057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Slack/Teams webhook</a:t>
            </a:r>
            <a:br/>
            <a:r>
              <a:t>notifications on scan</a:t>
            </a:r>
            <a:br/>
            <a:r>
              <a:t>completion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3017520"/>
            <a:ext cx="2423160" cy="3200400"/>
          </a:xfrm>
          <a:prstGeom prst="roundRect">
            <a:avLst/>
          </a:prstGeom>
          <a:solidFill>
            <a:srgbClr val="1419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0" y="3017520"/>
            <a:ext cx="2423160" cy="508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319532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🛡️  Security-First</a:t>
            </a:r>
            <a:br/>
            <a:r>
              <a:t>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3606800"/>
            <a:ext cx="2057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SSRF protection, API</a:t>
            </a:r>
            <a:br/>
            <a:r>
              <a:t>key auth, credential</a:t>
            </a:r>
            <a:br/>
            <a:r>
              <a:t>masking, audit ledger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SovaScan  |  UCO Bank Hackathon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 — High Level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0" y="1828800"/>
            <a:ext cx="3931920" cy="10972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Dashboard UI</a:t>
            </a:r>
            <a:br/>
            <a:r>
              <a:t>(React / TypeScript / Zustand)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657600"/>
            <a:ext cx="3657600" cy="1097280"/>
          </a:xfrm>
          <a:prstGeom prst="roundRect">
            <a:avLst/>
          </a:prstGeom>
          <a:solidFill>
            <a:srgbClr val="1E1B4B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Secure API Gateway</a:t>
            </a:r>
            <a:br/>
            <a:r>
              <a:t>(FastAPI / API Key Auth)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3657600"/>
            <a:ext cx="3657600" cy="1097280"/>
          </a:xfrm>
          <a:prstGeom prst="roundRect">
            <a:avLst/>
          </a:prstGeom>
          <a:solidFill>
            <a:srgbClr val="311042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Scan Orchestrator</a:t>
            </a:r>
            <a:br/>
            <a:r>
              <a:t>(Multi-Vector Engine / WebSockets)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5303520"/>
            <a:ext cx="3657600" cy="1097280"/>
          </a:xfrm>
          <a:prstGeom prst="roundRect">
            <a:avLst/>
          </a:prstGeom>
          <a:solidFill>
            <a:srgbClr val="064E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SQLite Database</a:t>
            </a:r>
            <a:br/>
            <a:r>
              <a:t>(sovascan.db / Audit Ledger)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5303520"/>
            <a:ext cx="3657600" cy="1097280"/>
          </a:xfrm>
          <a:prstGeom prst="roundRect">
            <a:avLst/>
          </a:prstGeom>
          <a:solidFill>
            <a:srgbClr val="7C2D12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Threat Intelligence Feeds</a:t>
            </a:r>
            <a:br/>
            <a:r>
              <a:t>(OSV API / CISA KEV / EPSS)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926080" y="2926080"/>
            <a:ext cx="2103120" cy="73152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040880" y="2926080"/>
            <a:ext cx="2194560" cy="731520"/>
          </a:xfrm>
          <a:prstGeom prst="line">
            <a:avLst/>
          </a:prstGeom>
          <a:ln w="254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926080" y="4754880"/>
            <a:ext cx="0" cy="54864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235440" y="4754880"/>
            <a:ext cx="0" cy="54864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54880" y="4206240"/>
            <a:ext cx="26517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0" y="3794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Queues Async Jobs 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SovaScan  |  UCO Bank Hackathon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Scan Execution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End-to-end lifecycle of a security scan from trigger to compliance report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103120"/>
            <a:ext cx="548640" cy="5486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28800" y="2377440"/>
            <a:ext cx="256032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27889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Scan</a:t>
            </a:r>
            <a:br/>
            <a:r>
              <a:t>Triggered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POST /scan with</a:t>
            </a:r>
            <a:br/>
            <a:r>
              <a:t>API Key + Target</a:t>
            </a:r>
          </a:p>
        </p:txBody>
      </p:sp>
      <p:sp>
        <p:nvSpPr>
          <p:cNvPr id="9" name="Oval 8"/>
          <p:cNvSpPr/>
          <p:nvPr/>
        </p:nvSpPr>
        <p:spPr>
          <a:xfrm>
            <a:off x="2496312" y="210312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56432" y="2377440"/>
            <a:ext cx="256032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084832" y="27889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Repo</a:t>
            </a:r>
            <a:br/>
            <a:r>
              <a:t>Cloned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4832" y="35204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HTTPS URL cloned</a:t>
            </a:r>
            <a:br/>
            <a:r>
              <a:t>to secure temp dir</a:t>
            </a:r>
          </a:p>
        </p:txBody>
      </p:sp>
      <p:sp>
        <p:nvSpPr>
          <p:cNvPr id="13" name="Oval 12"/>
          <p:cNvSpPr/>
          <p:nvPr/>
        </p:nvSpPr>
        <p:spPr>
          <a:xfrm>
            <a:off x="4123944" y="210312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84064" y="2377440"/>
            <a:ext cx="256032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12464" y="27889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Multi-Vector</a:t>
            </a:r>
            <a:br/>
            <a:r>
              <a:t>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2464" y="35204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SAST + Secrets +</a:t>
            </a:r>
            <a:br/>
            <a:r>
              <a:t>Deps + Misconfig</a:t>
            </a:r>
          </a:p>
        </p:txBody>
      </p:sp>
      <p:sp>
        <p:nvSpPr>
          <p:cNvPr id="17" name="Oval 16"/>
          <p:cNvSpPr/>
          <p:nvPr/>
        </p:nvSpPr>
        <p:spPr>
          <a:xfrm>
            <a:off x="5751576" y="21031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11696" y="2377440"/>
            <a:ext cx="256032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340096" y="27889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Severity</a:t>
            </a:r>
            <a:br/>
            <a:r>
              <a:t>Scoring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35204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Context-aware risk</a:t>
            </a:r>
            <a:br/>
            <a:r>
              <a:t>calculation engine</a:t>
            </a:r>
          </a:p>
        </p:txBody>
      </p:sp>
      <p:sp>
        <p:nvSpPr>
          <p:cNvPr id="21" name="Oval 20"/>
          <p:cNvSpPr/>
          <p:nvPr/>
        </p:nvSpPr>
        <p:spPr>
          <a:xfrm>
            <a:off x="7379208" y="21031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39328" y="2377440"/>
            <a:ext cx="256032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967728" y="27889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DB</a:t>
            </a:r>
            <a:br/>
            <a:r>
              <a:t>Persistence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35204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Findings + SBOM</a:t>
            </a:r>
            <a:br/>
            <a:r>
              <a:t>saved to SQLite</a:t>
            </a:r>
          </a:p>
        </p:txBody>
      </p:sp>
      <p:sp>
        <p:nvSpPr>
          <p:cNvPr id="25" name="Oval 24"/>
          <p:cNvSpPr/>
          <p:nvPr/>
        </p:nvSpPr>
        <p:spPr>
          <a:xfrm>
            <a:off x="9006840" y="2103120"/>
            <a:ext cx="548640" cy="5486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966960" y="2377440"/>
            <a:ext cx="256032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595360" y="27889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Compliance</a:t>
            </a:r>
            <a:br/>
            <a:r>
              <a:t>Mapping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5204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Map to NIST/SOC-2/</a:t>
            </a:r>
            <a:br/>
            <a:r>
              <a:t>OWASP/RBI controls</a:t>
            </a:r>
          </a:p>
        </p:txBody>
      </p:sp>
      <p:sp>
        <p:nvSpPr>
          <p:cNvPr id="29" name="Oval 28"/>
          <p:cNvSpPr/>
          <p:nvPr/>
        </p:nvSpPr>
        <p:spPr>
          <a:xfrm>
            <a:off x="10634472" y="210312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22992" y="27889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Alerts</a:t>
            </a:r>
            <a:br/>
            <a:r>
              <a:t>Dispatched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22992" y="35204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Slack/Teams webhook</a:t>
            </a:r>
            <a:br/>
            <a:r>
              <a:t>+ dashboard update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SovaScan  |  UCO Bank Hackathon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Multi-Vector Scanning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1920240"/>
          </a:xfrm>
          <a:prstGeom prst="roundRect">
            <a:avLst/>
          </a:prstGeom>
          <a:solidFill>
            <a:srgbClr val="1419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508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2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📦  Dependency</a:t>
            </a:r>
            <a:br/>
            <a:r>
              <a:t>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37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Scans package.json, requirements.txt,</a:t>
            </a:r>
            <a:br/>
            <a:r>
              <a:t>pom.xml and queries the OSV API</a:t>
            </a:r>
            <a:br/>
            <a:r>
              <a:t>for known CVEs.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383280" cy="1920240"/>
          </a:xfrm>
          <a:prstGeom prst="roundRect">
            <a:avLst/>
          </a:prstGeom>
          <a:solidFill>
            <a:srgbClr val="1419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34840" y="1554480"/>
            <a:ext cx="3383280" cy="50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32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🔑  Secret</a:t>
            </a:r>
            <a:br/>
            <a:r>
              <a:t>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1437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Shannon entropy algorithm + regex</a:t>
            </a:r>
            <a:br/>
            <a:r>
              <a:t>signatures to detect API keys,</a:t>
            </a:r>
            <a:br/>
            <a:r>
              <a:t>passwords, and private keys.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54480"/>
            <a:ext cx="3383280" cy="1920240"/>
          </a:xfrm>
          <a:prstGeom prst="roundRect">
            <a:avLst/>
          </a:prstGeom>
          <a:solidFill>
            <a:srgbClr val="14192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38160" y="1554480"/>
            <a:ext cx="3383280" cy="508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732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🔍  Static Analysis</a:t>
            </a:r>
            <a:br/>
            <a:r>
              <a:t>(SAST)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1437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Executes Bandit and Semgrep as</a:t>
            </a:r>
            <a:br/>
            <a:r>
              <a:t>subprocesses to audit Python/JS</a:t>
            </a:r>
            <a:br/>
            <a:r>
              <a:t>source code for vulnerabilities.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40"/>
            <a:ext cx="3383280" cy="1920240"/>
          </a:xfrm>
          <a:prstGeom prst="roundRect">
            <a:avLst/>
          </a:prstGeom>
          <a:solidFill>
            <a:srgbClr val="1419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749040"/>
            <a:ext cx="3383280" cy="508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268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📜  Git History</a:t>
            </a:r>
            <a:br/>
            <a:r>
              <a:t>Scanning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383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Crawls full commit history to trace</a:t>
            </a:r>
            <a:br/>
            <a:r>
              <a:t>historically leaked secrets and</a:t>
            </a:r>
            <a:br/>
            <a:r>
              <a:t>configuration drifts.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749040"/>
            <a:ext cx="3383280" cy="1920240"/>
          </a:xfrm>
          <a:prstGeom prst="roundRect">
            <a:avLst/>
          </a:prstGeom>
          <a:solidFill>
            <a:srgbClr val="1419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34840" y="3749040"/>
            <a:ext cx="3383280" cy="508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39268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⚙️  Misconfiguration</a:t>
            </a:r>
            <a:br/>
            <a:r>
              <a:t>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3383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Inspects Dockerfiles, Nginx configs,</a:t>
            </a:r>
            <a:br/>
            <a:r>
              <a:t>and environment files for wildcard</a:t>
            </a:r>
            <a:br/>
            <a:r>
              <a:t>CORS, root access, insecure TLS.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749040"/>
            <a:ext cx="3383280" cy="1920240"/>
          </a:xfrm>
          <a:prstGeom prst="roundRect">
            <a:avLst/>
          </a:prstGeom>
          <a:solidFill>
            <a:srgbClr val="1419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38160" y="3749040"/>
            <a:ext cx="3383280" cy="50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9268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📊  Context-Aware</a:t>
            </a:r>
            <a:br/>
            <a:r>
              <a:t>Scoring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3383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Elevates severity for production</a:t>
            </a:r>
            <a:br/>
            <a:r>
              <a:t>configs, reduces for test directories.</a:t>
            </a:r>
            <a:br/>
            <a:r>
              <a:t>Banking keyword detection.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SovaScan  |  UCO Bank Hackathon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Regulatory Compliance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Automatically maps code vulnerabilities to regulatory framework control checklists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560320" cy="3840480"/>
          </a:xfrm>
          <a:prstGeom prst="roundRect">
            <a:avLst/>
          </a:prstGeom>
          <a:solidFill>
            <a:srgbClr val="14192E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38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8FAFC"/>
                </a:solidFill>
                <a:latin typeface="Calibri"/>
              </a:defRPr>
            </a:pPr>
            <a:r>
              <a:t>🏛️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NIST-CSF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260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National Institute of Standards</a:t>
            </a:r>
            <a:br/>
            <a:r>
              <a:t>&amp; Technology Cybersecurity</a:t>
            </a:r>
            <a:br/>
            <a:r>
              <a:t>Framework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977640"/>
            <a:ext cx="18288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1605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Identify, Protect, Detect,</a:t>
            </a:r>
            <a:br/>
            <a:r>
              <a:t>Respond, Recover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011680"/>
            <a:ext cx="2560320" cy="3840480"/>
          </a:xfrm>
          <a:prstGeom prst="roundRect">
            <a:avLst/>
          </a:prstGeom>
          <a:solidFill>
            <a:srgbClr val="1419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2138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8FAFC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514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SOC-2 Type 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9260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Service Organization</a:t>
            </a:r>
            <a:br/>
            <a:r>
              <a:t>Control Report for</a:t>
            </a:r>
            <a:br/>
            <a:r>
              <a:t>Trust Services Criteria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3320" y="3977640"/>
            <a:ext cx="182880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41605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Security, Availability,</a:t>
            </a:r>
            <a:br/>
            <a:r>
              <a:t>Confidentiality, Privacy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2011680"/>
            <a:ext cx="2560320" cy="3840480"/>
          </a:xfrm>
          <a:prstGeom prst="roundRect">
            <a:avLst/>
          </a:prstGeom>
          <a:solidFill>
            <a:srgbClr val="14192E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138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8FAFC"/>
                </a:solidFill>
                <a:latin typeface="Calibri"/>
              </a:defRPr>
            </a:pPr>
            <a:r>
              <a:t>🕸️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514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OWASP Top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9260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Open Web Application</a:t>
            </a:r>
            <a:br/>
            <a:r>
              <a:t>Security Project</a:t>
            </a:r>
            <a:br/>
            <a:r>
              <a:t>Top 10 Vulnerabilities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977640"/>
            <a:ext cx="18288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41605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Injection, XSS, SSRF,</a:t>
            </a:r>
            <a:br/>
            <a:r>
              <a:t>Broken Auth, Misconfig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2011680"/>
            <a:ext cx="2560320" cy="3840480"/>
          </a:xfrm>
          <a:prstGeom prst="roundRect">
            <a:avLst/>
          </a:prstGeom>
          <a:solidFill>
            <a:srgbClr val="14192E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15400" y="2138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8FAFC"/>
                </a:solidFill>
                <a:latin typeface="Calibri"/>
              </a:defRPr>
            </a:pPr>
            <a:r>
              <a:t>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514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RBI-CSF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9260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Reserve Bank of India</a:t>
            </a:r>
            <a:br/>
            <a:r>
              <a:t>Cyber Security</a:t>
            </a:r>
            <a:br/>
            <a:r>
              <a:t>Framework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1160" y="3977640"/>
            <a:ext cx="18288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0" y="41605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PCI-DSS, PAN masking,</a:t>
            </a:r>
            <a:br/>
            <a:r>
              <a:t>Session timeouts,</a:t>
            </a:r>
            <a:br/>
            <a:r>
              <a:t>Encryption mandates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SovaScan  |  UCO Bank Hackathon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Interactive Dashboard &amp; Real-Time Alerting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709420"/>
            <a:ext cx="101600" cy="1016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Security Posture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Severity distribution charts, risk scores,</a:t>
            </a:r>
            <a:br/>
            <a:r>
              <a:t>and trend analysis with interactive Recharts visualizations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623820"/>
            <a:ext cx="101600" cy="1016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Live Scan Executor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346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Trigger scans via URL input with real-time</a:t>
            </a:r>
            <a:br/>
            <a:r>
              <a:t>WebSocket progress streaming to the browser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538220"/>
            <a:ext cx="101600" cy="1016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474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Findings Explorer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49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Paginated, filterable vulnerability list with</a:t>
            </a:r>
            <a:br/>
            <a:r>
              <a:t>one-click auto-fix and revert with audit justifications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452620"/>
            <a:ext cx="101600" cy="1016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Compliance Health Tracker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6634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Interactive gauge with pass/fail checklist,</a:t>
            </a:r>
            <a:br/>
            <a:r>
              <a:t>category coverage bars, and control metadata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367020"/>
            <a:ext cx="101600" cy="1016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303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Audit Activity Feed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577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Full history of applied/reverted fixes with</a:t>
            </a:r>
            <a:br/>
            <a:r>
              <a:t>operator, timestamp, and justification logging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1645920"/>
            <a:ext cx="4846320" cy="4572000"/>
          </a:xfrm>
          <a:prstGeom prst="roundRect">
            <a:avLst/>
          </a:prstGeom>
          <a:solidFill>
            <a:srgbClr val="1419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0" y="1645920"/>
            <a:ext cx="4846320" cy="50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19202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🔔  Webhook Alerting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423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Slack / Microsoft Teams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7706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Automatic alerts on scan completion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11810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Critical vulnerability count in payload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46557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SSRF-protected URL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8130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Configurable via Settings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160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Test webhook diagnostic button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SovaScan  |  UCO Bank Hackathon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Security-First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 security tool must practice what it preaches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560320" cy="3840480"/>
          </a:xfrm>
          <a:prstGeom prst="roundRect">
            <a:avLst/>
          </a:prstGeom>
          <a:solidFill>
            <a:srgbClr val="1419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2560320" cy="508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894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🛡️  SSRF Protection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096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All webhook URLs are validated:</a:t>
            </a:r>
            <a:br/>
            <a:r>
              <a:t>• HTTPS-only scheme enforcement</a:t>
            </a:r>
            <a:br/>
            <a:r>
              <a:t>• DNS resolution to IP addresses</a:t>
            </a:r>
            <a:br/>
            <a:r>
              <a:t>• Private/loopback/link-local blocked</a:t>
            </a:r>
            <a:br/>
            <a:r>
              <a:t>• Cloud metadata (169.254.x.x) blocked</a:t>
            </a:r>
            <a:br/>
            <a:r>
              <a:t>• Applied across all 3 call sites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011680"/>
            <a:ext cx="2560320" cy="3840480"/>
          </a:xfrm>
          <a:prstGeom prst="roundRect">
            <a:avLst/>
          </a:prstGeom>
          <a:solidFill>
            <a:srgbClr val="1419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37560" y="2011680"/>
            <a:ext cx="2560320" cy="50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1894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🔑  API Key 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60096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SHA-256 hashed key verification:</a:t>
            </a:r>
            <a:br/>
            <a:r>
              <a:t>• X-API-Key header on every request</a:t>
            </a:r>
            <a:br/>
            <a:r>
              <a:t>• Keys stored as salted hashes</a:t>
            </a:r>
            <a:br/>
            <a:r>
              <a:t>• Revocation support (is_active flag)</a:t>
            </a:r>
            <a:br/>
            <a:r>
              <a:t>• Last-used timestamp tracking</a:t>
            </a:r>
            <a:br/>
            <a:r>
              <a:t>• Generate/delete via Settings 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011680"/>
            <a:ext cx="2560320" cy="3840480"/>
          </a:xfrm>
          <a:prstGeom prst="roundRect">
            <a:avLst/>
          </a:prstGeom>
          <a:solidFill>
            <a:srgbClr val="1419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0" y="2011680"/>
            <a:ext cx="2560320" cy="508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1894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🕶️  Credential Masking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60096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Sensitive data never exposed:</a:t>
            </a:r>
            <a:br/>
            <a:r>
              <a:t>• Webhook URLs masked in API</a:t>
            </a:r>
            <a:br/>
            <a:r>
              <a:t>• Database URIs password-masked</a:t>
            </a:r>
            <a:br/>
            <a:r>
              <a:t>• Masked values skip on re-save</a:t>
            </a:r>
            <a:br/>
            <a:r>
              <a:t>• Empty string clears webhook</a:t>
            </a:r>
            <a:br/>
            <a:r>
              <a:t>• Defense-in-depth approach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2011680"/>
            <a:ext cx="2560320" cy="3840480"/>
          </a:xfrm>
          <a:prstGeom prst="roundRect">
            <a:avLst/>
          </a:prstGeom>
          <a:solidFill>
            <a:srgbClr val="1419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15400" y="2011680"/>
            <a:ext cx="2560320" cy="50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21894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📝  Immutable Audit Ledger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60096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Every action is logged permanently:</a:t>
            </a:r>
            <a:br/>
            <a:r>
              <a:t>• Auto-fix applied / reverted events</a:t>
            </a:r>
            <a:br/>
            <a:r>
              <a:t>• Operator identity tracking</a:t>
            </a:r>
            <a:br/>
            <a:r>
              <a:t>• Justification text stored</a:t>
            </a:r>
            <a:br/>
            <a:r>
              <a:t>• Timestamped to milliseconds</a:t>
            </a:r>
            <a:br/>
            <a:r>
              <a:t>• Queryable via REST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SovaScan  |  UCO Bank Hackathon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5029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67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3383280" cy="685800"/>
          </a:xfrm>
          <a:prstGeom prst="roundRect">
            <a:avLst/>
          </a:prstGeom>
          <a:solidFill>
            <a:srgbClr val="1419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68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React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7860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Component-based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3383280" cy="685800"/>
          </a:xfrm>
          <a:prstGeom prst="roundRect">
            <a:avLst/>
          </a:prstGeom>
          <a:solidFill>
            <a:srgbClr val="1419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59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TypeScript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015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Type-safe development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3383280" cy="685800"/>
          </a:xfrm>
          <a:prstGeom prst="roundRect">
            <a:avLst/>
          </a:prstGeom>
          <a:solidFill>
            <a:srgbClr val="1419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2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Zustand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245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Lightweight state management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54880"/>
            <a:ext cx="3383280" cy="685800"/>
          </a:xfrm>
          <a:prstGeom prst="roundRect">
            <a:avLst/>
          </a:prstGeom>
          <a:solidFill>
            <a:srgbClr val="1419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805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Recharts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474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Interactive data visualizations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577840"/>
            <a:ext cx="3383280" cy="685800"/>
          </a:xfrm>
          <a:prstGeom prst="roundRect">
            <a:avLst/>
          </a:prstGeom>
          <a:solidFill>
            <a:srgbClr val="1419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628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704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Lightning-fast build system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1645920"/>
            <a:ext cx="338328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16967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2286000"/>
            <a:ext cx="3383280" cy="685800"/>
          </a:xfrm>
          <a:prstGeom prst="roundRect">
            <a:avLst/>
          </a:prstGeom>
          <a:solidFill>
            <a:srgbClr val="1419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23368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257860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Async Python REST framework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3108960"/>
            <a:ext cx="3383280" cy="685800"/>
          </a:xfrm>
          <a:prstGeom prst="roundRect">
            <a:avLst/>
          </a:prstGeom>
          <a:solidFill>
            <a:srgbClr val="1419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3159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SQLAlchemy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4015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ORM for database access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60" y="3931920"/>
            <a:ext cx="3383280" cy="685800"/>
          </a:xfrm>
          <a:prstGeom prst="roundRect">
            <a:avLst/>
          </a:prstGeom>
          <a:solidFill>
            <a:srgbClr val="1419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3982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Pydantic v2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2245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Data validation &amp; schemas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80560" y="4754880"/>
            <a:ext cx="3383280" cy="685800"/>
          </a:xfrm>
          <a:prstGeom prst="roundRect">
            <a:avLst/>
          </a:prstGeom>
          <a:solidFill>
            <a:srgbClr val="1419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4805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Click + Rich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50474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CLI with colorized output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80560" y="5577840"/>
            <a:ext cx="3383280" cy="685800"/>
          </a:xfrm>
          <a:prstGeom prst="roundRect">
            <a:avLst/>
          </a:prstGeom>
          <a:solidFill>
            <a:srgbClr val="1419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40" y="5628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WebSockets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58704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Real-time scan streaming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0" y="1645920"/>
            <a:ext cx="338328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16967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0" y="2286000"/>
            <a:ext cx="3383280" cy="685800"/>
          </a:xfrm>
          <a:prstGeom prst="roundRect">
            <a:avLst/>
          </a:prstGeom>
          <a:solidFill>
            <a:srgbClr val="1419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0" y="23368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SQLite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257860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Zero-config local database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0" y="3108960"/>
            <a:ext cx="3383280" cy="685800"/>
          </a:xfrm>
          <a:prstGeom prst="roundRect">
            <a:avLst/>
          </a:prstGeom>
          <a:solidFill>
            <a:srgbClr val="1419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0" y="3159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Docker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34015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Containerized deployment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0" y="3931920"/>
            <a:ext cx="3383280" cy="685800"/>
          </a:xfrm>
          <a:prstGeom prst="roundRect">
            <a:avLst/>
          </a:prstGeom>
          <a:solidFill>
            <a:srgbClr val="1419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0" y="3982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GitHub Actions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42245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CI/CD pipeline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29600" y="4754880"/>
            <a:ext cx="3383280" cy="685800"/>
          </a:xfrm>
          <a:prstGeom prst="roundRect">
            <a:avLst/>
          </a:prstGeom>
          <a:solidFill>
            <a:srgbClr val="1419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2480" y="4805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OSV API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50474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Vulnerability intelligence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0" y="5577840"/>
            <a:ext cx="3383280" cy="685800"/>
          </a:xfrm>
          <a:prstGeom prst="roundRect">
            <a:avLst/>
          </a:prstGeom>
          <a:solidFill>
            <a:srgbClr val="1419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80" y="5628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CISA KEV + EPSS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58704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Threat prioritization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SovaScan  |  UCO Bank Hackathon 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Live Demo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1463040"/>
          </a:xfrm>
          <a:prstGeom prst="roundRect">
            <a:avLst/>
          </a:prstGeom>
          <a:solidFill>
            <a:srgbClr val="1419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3500" cy="14630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47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Show Vulnerable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Open the vulnerable-test-target folder containing</a:t>
            </a:r>
            <a:br/>
            <a:r>
              <a:t>hardcoded credentials and unsafe function calls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383280" cy="1463040"/>
          </a:xfrm>
          <a:prstGeom prst="roundRect">
            <a:avLst/>
          </a:prstGeom>
          <a:solidFill>
            <a:srgbClr val="1419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1645920"/>
            <a:ext cx="63500" cy="1463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747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366F1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965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Trigger Security 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86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Start the scan via dashboard URL input.</a:t>
            </a:r>
            <a:br/>
            <a:r>
              <a:t>Watch real-time WebSocket progress streaming.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45920"/>
            <a:ext cx="3383280" cy="1463040"/>
          </a:xfrm>
          <a:prstGeom prst="roundRect">
            <a:avLst/>
          </a:prstGeom>
          <a:solidFill>
            <a:srgbClr val="1419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60" y="1645920"/>
            <a:ext cx="63500" cy="1463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47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65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Webhook Alert Fires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286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Switch to Webhook.site tab to show the</a:t>
            </a:r>
            <a:br/>
            <a:r>
              <a:t>Slack notification payload arriving instantly.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337560"/>
            <a:ext cx="3383280" cy="1463040"/>
          </a:xfrm>
          <a:prstGeom prst="roundRect">
            <a:avLst/>
          </a:prstGeom>
          <a:solidFill>
            <a:srgbClr val="1419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3337560"/>
            <a:ext cx="63500" cy="1463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439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657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Compliance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9776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Show NIST-CSF controls turning RED with</a:t>
            </a:r>
            <a:br/>
            <a:r>
              <a:t>failed status and violation details.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337560"/>
            <a:ext cx="3383280" cy="1463040"/>
          </a:xfrm>
          <a:prstGeom prst="roundRect">
            <a:avLst/>
          </a:prstGeom>
          <a:solidFill>
            <a:srgbClr val="14192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34840" y="3337560"/>
            <a:ext cx="63500" cy="1463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3439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Calibri"/>
              </a:defRPr>
            </a:pPr>
            <a:r>
              <a:t>Step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3657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Auto-Fix &amp; Re-Scan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39776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Apply auto-fix on a finding, re-scan,</a:t>
            </a:r>
            <a:br/>
            <a:r>
              <a:t>and watch the compliance score rise to GREEN.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3337560"/>
            <a:ext cx="3383280" cy="1463040"/>
          </a:xfrm>
          <a:prstGeom prst="roundRect">
            <a:avLst/>
          </a:prstGeom>
          <a:solidFill>
            <a:srgbClr val="1419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38160" y="3337560"/>
            <a:ext cx="63500" cy="1463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3439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Calibri"/>
              </a:defRPr>
            </a:pPr>
            <a:r>
              <a:t>Step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657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Audit Trail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9776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Open Profile page to show the immutable</a:t>
            </a:r>
            <a:br/>
            <a:r>
              <a:t>audit ledger with operator + justification.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SovaScan  |  UCO Bank Hackathon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Roadmap &amp; Future Milestones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0" y="1772920"/>
            <a:ext cx="177800" cy="1778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05000" y="1950720"/>
            <a:ext cx="25400" cy="8636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967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6366F1"/>
                </a:solidFill>
                <a:latin typeface="Calibri"/>
              </a:defRPr>
            </a:pPr>
            <a:r>
              <a:t>Q3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645920"/>
            <a:ext cx="8686800" cy="914400"/>
          </a:xfrm>
          <a:prstGeom prst="roundRect">
            <a:avLst/>
          </a:prstGeom>
          <a:solidFill>
            <a:srgbClr val="1419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1722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Async Scan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0116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Integrate Celery + Redis task queue for</a:t>
            </a:r>
            <a:br/>
            <a:r>
              <a:t>non-blocking background scanning of</a:t>
            </a:r>
            <a:br/>
            <a:r>
              <a:t>large enterprise codebases.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722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366F1"/>
                </a:solidFill>
                <a:latin typeface="Calibri"/>
              </a:defRPr>
            </a:pPr>
            <a:r>
              <a:t>IN PROGRESS</a:t>
            </a:r>
          </a:p>
        </p:txBody>
      </p:sp>
      <p:sp>
        <p:nvSpPr>
          <p:cNvPr id="11" name="Oval 10"/>
          <p:cNvSpPr/>
          <p:nvPr/>
        </p:nvSpPr>
        <p:spPr>
          <a:xfrm>
            <a:off x="1828800" y="2824480"/>
            <a:ext cx="177800" cy="1778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05000" y="3002280"/>
            <a:ext cx="25400" cy="8636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482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8B5CF6"/>
                </a:solidFill>
                <a:latin typeface="Calibri"/>
              </a:defRPr>
            </a:pPr>
            <a:r>
              <a:t>Q3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2697480"/>
            <a:ext cx="8686800" cy="914400"/>
          </a:xfrm>
          <a:prstGeom prst="roundRect">
            <a:avLst/>
          </a:prstGeom>
          <a:solidFill>
            <a:srgbClr val="14192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2773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AST-Based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30632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Replace regex pattern matching with</a:t>
            </a:r>
            <a:br/>
            <a:r>
              <a:t>Abstract Syntax Tree parsing to eliminate</a:t>
            </a:r>
            <a:br/>
            <a:r>
              <a:t>false positives in SAST scans.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77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5CF6"/>
                </a:solidFill>
                <a:latin typeface="Calibri"/>
              </a:defRPr>
            </a:pPr>
            <a:r>
              <a:t>IN PROGRESS</a:t>
            </a:r>
          </a:p>
        </p:txBody>
      </p:sp>
      <p:sp>
        <p:nvSpPr>
          <p:cNvPr id="18" name="Oval 17"/>
          <p:cNvSpPr/>
          <p:nvPr/>
        </p:nvSpPr>
        <p:spPr>
          <a:xfrm>
            <a:off x="1828800" y="3876040"/>
            <a:ext cx="177800" cy="1778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905000" y="4053840"/>
            <a:ext cx="25400" cy="8636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7998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Q4 2026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3749040"/>
            <a:ext cx="8686800" cy="914400"/>
          </a:xfrm>
          <a:prstGeom prst="roundRect">
            <a:avLst/>
          </a:prstGeom>
          <a:solidFill>
            <a:srgbClr val="1419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3825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PostgreSQL Migration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41148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Production database upgrade from SQLite</a:t>
            </a:r>
            <a:br/>
            <a:r>
              <a:t>to PostgreSQL for scalable, concurrent</a:t>
            </a:r>
            <a:br/>
            <a:r>
              <a:t>multi-user deployments.</a:t>
            </a:r>
          </a:p>
        </p:txBody>
      </p:sp>
      <p:sp>
        <p:nvSpPr>
          <p:cNvPr id="24" name="Oval 23"/>
          <p:cNvSpPr/>
          <p:nvPr/>
        </p:nvSpPr>
        <p:spPr>
          <a:xfrm>
            <a:off x="1828800" y="4927600"/>
            <a:ext cx="177800" cy="1778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05000" y="5105400"/>
            <a:ext cx="25400" cy="8636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8514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  <a:latin typeface="Calibri"/>
              </a:defRPr>
            </a:pPr>
            <a:r>
              <a:t>Q4 2026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86000" y="4800600"/>
            <a:ext cx="8686800" cy="914400"/>
          </a:xfrm>
          <a:prstGeom prst="roundRect">
            <a:avLst/>
          </a:prstGeom>
          <a:solidFill>
            <a:srgbClr val="1419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4876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AI-Agent Auto-Fix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51663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Connect to Gemini/GPT to generate precise</a:t>
            </a:r>
            <a:br/>
            <a:r>
              <a:t>git patches for vulnerability remediation</a:t>
            </a:r>
            <a:br/>
            <a:r>
              <a:t>automatically.</a:t>
            </a:r>
          </a:p>
        </p:txBody>
      </p:sp>
      <p:sp>
        <p:nvSpPr>
          <p:cNvPr id="30" name="Oval 29"/>
          <p:cNvSpPr/>
          <p:nvPr/>
        </p:nvSpPr>
        <p:spPr>
          <a:xfrm>
            <a:off x="1828800" y="5979160"/>
            <a:ext cx="177800" cy="1778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9029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3B82F6"/>
                </a:solidFill>
                <a:latin typeface="Calibri"/>
              </a:defRPr>
            </a:pPr>
            <a:r>
              <a:t>Q1 2027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86000" y="5852160"/>
            <a:ext cx="8686800" cy="914400"/>
          </a:xfrm>
          <a:prstGeom prst="roundRect">
            <a:avLst/>
          </a:prstGeom>
          <a:solidFill>
            <a:srgbClr val="1419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4600" y="5928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CI/CD Pipeline Plugin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62179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GitHub Actions / GitLab CI integration</a:t>
            </a:r>
            <a:br/>
            <a:r>
              <a:t>for automated security gates in the</a:t>
            </a:r>
            <a:br/>
            <a:r>
              <a:t>deployment pipeline.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SovaScan  |  UCO Bank Hackathon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D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ovascan_owl_logo_17844904696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548640"/>
            <a:ext cx="22860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3749039"/>
            <a:ext cx="27432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84632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366F1"/>
                </a:solidFill>
                <a:latin typeface="Calibri"/>
              </a:defRPr>
            </a:pPr>
            <a:r>
              <a:t>github.com/abhinavsingh2403/SovaScan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539496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Live Demo:  http://localhost:8000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94360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Team SovaScan  |  UCO Bank Hackathon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