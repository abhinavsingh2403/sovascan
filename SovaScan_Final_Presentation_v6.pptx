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THE REALITY OF BANKING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FFFFFF"/>
                </a:solidFill>
                <a:latin typeface="Arial"/>
              </a:defRPr>
            </a:pPr>
            <a:r>
              <a:t>"Last week, a developer left a production database password inside an enterprise codebase.</a:t>
            </a:r>
            <a:br/>
            <a:r>
              <a:t>It sat live, exposed to the internet, for 6 hours before anyone noticed."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Manual audits are too slow. Static spreadsheets fail. Credit data leaks in seconds.</a:t>
            </a:r>
            <a:br/>
            <a:r>
              <a:t>How does a SecOps team stay ahead of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Continuous Regulatory Auditing and Automated Remediation in Banking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502920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National Hackathon 2026  |  UCO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Daily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reality of managing code security audits at a scale of 100+ active repositories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Priya's primary bottlenecks as a SecOps engineer: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Lagging Security Visibility: </a:t>
            </a:r>
            <a:r>
              <a:rPr b="0" sz="1200">
                <a:solidFill>
                  <a:srgbClr val="94A3B8"/>
                </a:solidFill>
                <a:latin typeface="Arial"/>
              </a:rPr>
              <a:t>Compliance audits are run manually twice a year. Between audits, developers commit code containing vulnerabilities undetected.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Exposed Secrets &amp; Keys: </a:t>
            </a:r>
            <a:r>
              <a:rPr b="0" sz="1200">
                <a:solidFill>
                  <a:srgbClr val="94A3B8"/>
                </a:solidFill>
                <a:latin typeface="Arial"/>
              </a:rPr>
              <a:t>Database credentials and API key hashes are committed in local configurations. Generic scanners miss complex secret patterns.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Disconnected Compliance Docs: </a:t>
            </a:r>
            <a:r>
              <a:rPr b="0" sz="1200">
                <a:solidFill>
                  <a:srgbClr val="94A3B8"/>
                </a:solidFill>
                <a:latin typeface="Arial"/>
              </a:rPr>
              <a:t>RBI guidelines and SOC-2 trust criteria are tracked in spreadsheets, disjointed from actual code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277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time required to identify and resolve key leaks in large-scale repositories.</a:t>
            </a:r>
            <a:br/>
            <a:r>
              <a:t>Source: IBM Cost of a Data Breach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$4.5M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and financial configurations.</a:t>
            </a:r>
            <a:br/>
            <a:r>
              <a:t>Source: IBM Cost of a Data Breach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systems.</a:t>
            </a:r>
            <a:br/>
            <a:r>
              <a:t>Source: RBI Cybersecurity 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Securing Priya's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streamlines Priya's dashboard audits: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94A3B8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94A3B8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Priya can apply auto-fixes and roll back changes instantly, directly inside the dashboard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Real-Time WebSocket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Vulnerability findings and automated alerts sent in seconds upon scan completion.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Priya's scan requests route securely through core engine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Dashboard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React 18 / Zustand</a:t>
            </a:r>
            <a:br/>
            <a:r>
              <a:t>Recharts SVG Gauges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807208"/>
            <a:ext cx="5486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API Router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FastAPI Router</a:t>
            </a:r>
            <a:br/>
            <a:r>
              <a:t>API Key Verification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92240" y="2468880"/>
            <a:ext cx="548640" cy="2286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052060" y="3566160"/>
            <a:ext cx="22860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920" y="40233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099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Alert Dispatcher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Slack / Teams Alerting</a:t>
            </a:r>
            <a:br/>
            <a:r>
              <a:t>(Outbound SSRF Safe)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64592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72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ScanManager Task Runner</a:t>
            </a:r>
            <a:br/>
            <a:r>
              <a:t>Real-time WebSockets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252460" y="2834640"/>
            <a:ext cx="22860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32918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368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Multi-Vector Scanners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SAST / Secrets / Deps</a:t>
            </a:r>
            <a:br/>
            <a:r>
              <a:t>Git History Crawler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92640" y="3721608"/>
            <a:ext cx="54864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252460" y="4480560"/>
            <a:ext cx="228600" cy="36576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0" y="3291840"/>
            <a:ext cx="20116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3368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SQLite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sovascan.db</a:t>
            </a:r>
            <a:br/>
            <a:r>
              <a:t>Audit Log Ledger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9377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5013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Threat Intel Feeds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OSV API / CVE Feeds</a:t>
            </a:r>
            <a:br/>
            <a:r>
              <a:t>CISA KEV / EPSS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94A3B8"/>
                </a:solidFill>
                <a:latin typeface="Arial"/>
              </a:defRPr>
            </a:pPr>
            <a:r>
              <a:t>⚡ Data Flow: Dashboard requests trigger secure APIs. The Gateway schedules task workers via ScanManager, audits threat parameters, updates SQLite states, dispatches Slack notifications, and streams progress alerts.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What happens behind the scenes when Priya triggers a codebase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1.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User POSTs Git URL + key credentials to /api/v1/scan API route.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2286000"/>
            <a:ext cx="32004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2. 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Router checks auth state, writes PENDING to DB, and returns a 202 ID.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4688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3.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ScanManager schedules worker task, decoupling scan from HTTP threads.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0684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4. CLONE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Worker spawns secure temporary clones of target Git directories.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492740" y="3383280"/>
            <a:ext cx="228600" cy="45720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7260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3931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5. EXECUTE AUDITS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Runs parallel vector checks: SAST, secrets, CVEs, git history, configs.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9006840" y="4572000"/>
            <a:ext cx="32004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31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6. COMPLIANCE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Applies scoring modifiers and correlates issues to RBI/NIST controls.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612648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88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7. WRITE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Persists findings, exports SBOM list, dispatches notifications.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324612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8. WEBSOCKET FEED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UI receives completion events, re-indexing stats and compliance speedometer.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six code analysis layers Priya executes on local codebase directories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Extracts manifest definitions (package.json, requirements.txt, pom.xml) and runs CVE assessments via OSV API integrations.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Secret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Executes high-entropy Shannon algorithm checks + regex signatures to find raw passwords, private keys, and API tokens.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Static Analysis (SAST)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Seamlessly triggers Bandit (Python AST) and Semgrep (static pattern matching) subprocesses to audit source logic.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History Crawler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Iterates through full commit logs (git log -p) to identify historical leaks hidden in older code revisions.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Configuration Audits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deployment configurations (Dockerfiles, Nginx configs, env scripts) for insecure defaults and CORS issues.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Dynamic Context-Scoring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Applies location-aware multipliers. Modifies risk scores if vulnerability is located in production vs testing directories.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SovaScan translates raw security findings into regulatory checklists for Priya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NIST-CSF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National Institute of Standards &amp;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Maps code vulnerability scans onto core NIST pillars to trace posture.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3B82F6"/>
                </a:solidFill>
                <a:latin typeface="Arial"/>
              </a:defRPr>
            </a:pPr>
            <a:r>
              <a:t>Identify, Protect, Detect, Respond, Recover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SOC-2 Type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Service Organization Control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Secures compliance gates by auditing trust service criteria.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8B5CF6"/>
                </a:solidFill>
                <a:latin typeface="Arial"/>
              </a:defRPr>
            </a:pPr>
            <a:r>
              <a:t>Security, Confidentiality, and Privacy Policies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OWASP Top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Open Web Application Security Project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Links code issues directly to major web vulnerability lists.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59E0B"/>
                </a:solidFill>
                <a:latin typeface="Arial"/>
              </a:defRPr>
            </a:pPr>
            <a:r>
              <a:t>Injection, XSS, SSRF, Broken Auth, Misconfiguration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RBI-CSF Guidelines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Reserve Bank of India Guidelines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specific Indian banking security regulations.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EF4444"/>
                </a:solidFill>
                <a:latin typeface="Arial"/>
              </a:defRPr>
            </a:pPr>
            <a:r>
              <a:t>PAN masking, Cryptography, Timeouts, Data encryption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Cockpit: SovaScan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analytical workspace and real-time dashboard stats</a:t>
            </a:r>
          </a:p>
        </p:txBody>
      </p:sp>
      <p:pic>
        <p:nvPicPr>
          <p:cNvPr id="6" name="Picture 5" descr="media__1784491577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Elements: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Overall Security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Circular dial detailing core vulnerabilities grouped into critical/high categories.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Findings by Severity: </a:t>
            </a:r>
            <a:r>
              <a:rPr b="0" sz="1200">
                <a:solidFill>
                  <a:srgbClr val="94A3B8"/>
                </a:solidFill>
                <a:latin typeface="Arial"/>
              </a:rPr>
              <a:t>Dynamically updated chart displaying counts (e.g. 122 Medium, 28 High, 8 Critical findings).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Security Trend: </a:t>
            </a:r>
            <a:r>
              <a:rPr b="0" sz="1200">
                <a:solidFill>
                  <a:srgbClr val="94A3B8"/>
                </a:solidFill>
                <a:latin typeface="Arial"/>
              </a:rPr>
              <a:t>Historical line graphs plotting scan vulnerability numbers over continuous execution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Terminal View: </a:t>
            </a:r>
            <a:r>
              <a:rPr b="0" sz="1200">
                <a:solidFill>
                  <a:srgbClr val="94A3B8"/>
                </a:solidFill>
                <a:latin typeface="Arial"/>
              </a:rPr>
              <a:t>Bottom logging panel serving system output feeds direct to developers in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Case Study: What Almost Went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How self-auditing SovaScan protects Priya's internal security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Honest security audit case study: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During our final pre-deployment security audit, we analyzed our own outbound Slack alert webhook module. Discovered that unrestricted URL inputs allowed requesting internal subnets.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DNS Resolution Validator: </a:t>
            </a:r>
            <a:r>
              <a:rPr b="0" sz="1200">
                <a:solidFill>
                  <a:srgbClr val="94A3B8"/>
                </a:solidFill>
                <a:latin typeface="Arial"/>
              </a:rPr>
              <a:t>Coded a dynamic socket IP resolver to check domain resolutions against local and link-local ranges, rejecting loopbacks and non-HTTPS targets.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Credential Information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Masked webhook secrets and DB credentials inside GET API returns, blocking plaintext info exposure to developers.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4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Arial"/>
              </a:defRPr>
            </a:pPr>
            <a:r>
              <a:t>BEFORE: UNRESTRICTED SSRF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Backend accepted arbitrary URL schemes and hosts, allowing an attacker with valid API credentials to execute requests to localhost, internal assets, or cloud metadata endpoints.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84048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4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AFTER: DEFENSE-IN-DEPTH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06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Strict URL verification executes socket DNS resolution first. Blocks loopbacks (127.0.0.1), subnets (10.x.x.x, 192.168.x.x), and AWS/GCP metadata (169.254.169.254). Credentials are fully masked on Settings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Gates: </a:t>
            </a:r>
            <a:r>
              <a:rPr b="0" sz="1200">
                <a:solidFill>
                  <a:srgbClr val="94A3B8"/>
                </a:solidFill>
                <a:latin typeface="Arial"/>
              </a:rPr>
              <a:t>Validates incoming alert webhook URLs. Blocks loopbacks, private subnets, and cloud metadata endpoints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94A3B8"/>
                </a:solidFill>
                <a:latin typeface="Arial"/>
              </a:rPr>
              <a:t>Uses dynamic, relative paths rather than absolute paths to load and save local server settings, preventing directory traversal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Sensitive DB credentials and webhook keys are masked with asterisks before returning to Settings 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SECURITY GATES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SSRF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Scheme, Hostname, DNS Lookup and IP checks verified on save and trigger pathways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Asterisk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Webhooks are masked like 'services/T01...****/B01...****/********'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Dynamic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.env is loaded from path relative to server root to avoid dev-machine path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secure internal alert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94A3B8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94A3B8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B0F19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solidFill>
            <a:srgbClr val="0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76022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17602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0" y="17602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668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slack_payload_template.json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74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475569"/>
                </a:solidFill>
                <a:latin typeface="Courier New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  <a:br/>
            <a:r>
              <a:t>6</a:t>
            </a:r>
            <a:br/>
            <a:r>
              <a:t>7</a:t>
            </a:r>
            <a:br/>
            <a:r>
              <a:t>8</a:t>
            </a:r>
            <a:br/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945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&lt;https://sovascan.internal/report/9c1a|View Audit Report&gt;"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Core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and architectures powering SovaScan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FRONTEND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React 18 &amp;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Type-safe component dashboard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Zustand State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Frictionless global state stores with client caching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Recharts Visualizer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Dynamic SVG gauges and vulnerability distributions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508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Vite Bundler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Custom rollup configuration with node-module chunking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645920"/>
            <a:ext cx="33832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BACKEND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22860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FastAPI Async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Asynchronous HTTP backend routing and API key filters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32004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SQLAlchemy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Object-relational mapping models with SQLite connections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41148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Pydantic v2 Schemas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Strict input serialization and payload type validations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5029200"/>
            <a:ext cx="508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Click &amp; Rich CLI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Command line scanning tools printing colorized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164592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17094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SECURITY &amp; DEV-OPS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2860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22860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2336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OSV Vulnerability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25968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Continuous CVE databases queryable via API vectors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2004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32004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3251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Docker &amp; Compose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3511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Multi-container build parameters and network environments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1148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41148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4165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Bandit &amp; Semgrep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44256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Source static analysis libraries run as subprocesses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5029200"/>
            <a:ext cx="3383280" cy="777240"/>
          </a:xfrm>
          <a:prstGeom prst="rect">
            <a:avLst/>
          </a:prstGeom>
          <a:solidFill>
            <a:srgbClr val="0E1527"/>
          </a:solidFill>
          <a:ln w="12700">
            <a:solidFill>
              <a:srgbClr val="1F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8160" y="5029200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5080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GitHub Actions CI/CD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2752" y="53400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Automated code integration checkpoints and testing workflows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Live 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Step-by-step walkthrough demonstrating SovaScan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Configure &amp; Test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Open settings. Paste webhook.site diagnostic webhook URL and trigger 'Test Webhook Alert' to demonstrate outbound JSON traffic.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Target Codebase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Input the target codebase path or URL. Trigger scan and show real-time WebSocket progress bars detailing SAST / secrets check phases.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59E0B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Review Compliance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Examine NIST-CSF, SOC-2, and OWASP-10 frameworks checking failed compliance controls and violation lists.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Remediate Vulnerability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Locate a vulnerable item, execute 'Auto-Fix', write operators' justification ledger, and watch compliance scores rise.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931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Immutable Audit Ledger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Visit Profile page. Display the persistent SQLite log detailing the timestamped fix action and security reason.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931920"/>
            <a:ext cx="3383280" cy="201168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93192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08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F4444"/>
                </a:solidFill>
                <a:latin typeface="Arial"/>
              </a:defRPr>
            </a:pPr>
            <a:r>
              <a:t>STAGE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CLI Scan &amp; SBOM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Arial"/>
              </a:defRPr>
            </a:pPr>
            <a:r>
              <a:t>Demonstrate CLI tool: run 'sovascan scan' inside terminal to export interactive HTML scan reports and CycloneDX SBOMs.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SovaScan 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Short-term next steps to transition SovaScan from prototype to enterprise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NEXT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Code 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DNS Rebinding Gates: </a:t>
            </a:r>
            <a:r>
              <a:rPr b="0" sz="1050">
                <a:solidFill>
                  <a:srgbClr val="94A3B8"/>
                </a:solidFill>
                <a:latin typeface="Arial"/>
              </a:rPr>
              <a:t>Pin resolved IP addresses during outbound request validation phases to block rebinding attacks.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Multi-Threaded Pool: </a:t>
            </a:r>
            <a:r>
              <a:rPr b="0" sz="1050">
                <a:solidFill>
                  <a:srgbClr val="94A3B8"/>
                </a:solidFill>
                <a:latin typeface="Arial"/>
              </a:rPr>
              <a:t>Deploy multi-threaded scanning worker pools to handle 10+ parallel folder audits.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Endpoint Rate Limiting: </a:t>
            </a:r>
            <a:r>
              <a:rPr b="0" sz="1050">
                <a:solidFill>
                  <a:srgbClr val="94A3B8"/>
                </a:solidFill>
                <a:latin typeface="Arial"/>
              </a:rPr>
              <a:t>Implement API request rate limits on sensitive FastAPI scanner routes.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NEXT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Enterprise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CI/CD Pipeline Plugins: </a:t>
            </a:r>
            <a:r>
              <a:rPr b="0" sz="1050">
                <a:solidFill>
                  <a:srgbClr val="94A3B8"/>
                </a:solidFill>
                <a:latin typeface="Arial"/>
              </a:rPr>
              <a:t>Create native runner actions for GitHub Actions and GitLab CI to fail builds on critical violations.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Active Directory SSO: </a:t>
            </a:r>
            <a:r>
              <a:rPr b="0" sz="1050">
                <a:solidFill>
                  <a:srgbClr val="94A3B8"/>
                </a:solidFill>
                <a:latin typeface="Arial"/>
              </a:rPr>
              <a:t>Integrate LDAP / Active Directory single-sign-on (SSO) for bank authorization gates.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Alert Rules Filtering: </a:t>
            </a:r>
            <a:r>
              <a:rPr b="0" sz="1050">
                <a:solidFill>
                  <a:srgbClr val="94A3B8"/>
                </a:solidFill>
                <a:latin typeface="Arial"/>
              </a:rPr>
              <a:t>Add directory-level regex exclusions and fine-grained alerts customization.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NEXT 90+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Context-Aware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RBI &amp; PCI-DSS 4.0: </a:t>
            </a:r>
            <a:r>
              <a:rPr b="0" sz="1050">
                <a:solidFill>
                  <a:srgbClr val="94A3B8"/>
                </a:solidFill>
                <a:latin typeface="Arial"/>
              </a:rPr>
              <a:t>Deploy continuous auditing dashboards for the latest PCI-DSS and RBI CSF regulatory updates.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EPSS Correlation Maps: </a:t>
            </a:r>
            <a:r>
              <a:rPr b="0" sz="1050">
                <a:solidFill>
                  <a:srgbClr val="94A3B8"/>
                </a:solidFill>
                <a:latin typeface="Arial"/>
              </a:rPr>
              <a:t>Integrate EPSS scoring feeds to prioritize scanning items based on active threat exploitability.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YAML Rules Creator: </a:t>
            </a:r>
            <a:r>
              <a:rPr b="0" sz="1050">
                <a:solidFill>
                  <a:srgbClr val="94A3B8"/>
                </a:solidFill>
                <a:latin typeface="Arial"/>
              </a:rPr>
              <a:t>Build a visual custom rules creation utility for internal SecOps engineers.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Enterprise 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Ensuring zero data leakage and absolute security inside air-gapped banking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Local-First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Absolute Code 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Zero Cloud Calls: </a:t>
            </a:r>
            <a:r>
              <a:rPr b="0" sz="1050">
                <a:solidFill>
                  <a:srgbClr val="94A3B8"/>
                </a:solidFill>
                <a:latin typeface="Arial"/>
              </a:rPr>
              <a:t>Runs completely inside the bank's secure network perimeter, ensuring proprietary code never leaves local controls.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No Third-Party SaaS: </a:t>
            </a:r>
            <a:r>
              <a:rPr b="0" sz="1050">
                <a:solidFill>
                  <a:srgbClr val="94A3B8"/>
                </a:solidFill>
                <a:latin typeface="Arial"/>
              </a:rPr>
              <a:t>Eliminates third-party software-as-a-service risks by retaining all analysis steps inside self-hosted runtimes.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Directory Audits: </a:t>
            </a:r>
            <a:r>
              <a:rPr b="0" sz="1050">
                <a:solidFill>
                  <a:srgbClr val="94A3B8"/>
                </a:solidFill>
                <a:latin typeface="Arial"/>
              </a:rPr>
              <a:t>Scans local repository mirrors or codebase folders, respecting active network folder permissions.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Air-Gapped Audits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Offline Security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Offline CVE Databases: </a:t>
            </a:r>
            <a:r>
              <a:rPr b="0" sz="1050">
                <a:solidFill>
                  <a:srgbClr val="94A3B8"/>
                </a:solidFill>
                <a:latin typeface="Arial"/>
              </a:rPr>
              <a:t>Synchronizes vulnerability databases (OSV, NVD CVEs) via secure, periodic offline bundle loads.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Eliminate API Calls: </a:t>
            </a:r>
            <a:r>
              <a:rPr b="0" sz="1050">
                <a:solidFill>
                  <a:srgbClr val="94A3B8"/>
                </a:solidFill>
                <a:latin typeface="Arial"/>
              </a:rPr>
              <a:t>Checks package dependencies without establishing live outbound network connections to global vulnerability feeds.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Restricted Subnets: </a:t>
            </a:r>
            <a:r>
              <a:rPr b="0" sz="1050">
                <a:solidFill>
                  <a:srgbClr val="94A3B8"/>
                </a:solidFill>
                <a:latin typeface="Arial"/>
              </a:rPr>
              <a:t>Blocks scans from triggering any dynamic external queries or downloading unverified testing libraries.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8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Immutable Ledger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Encrypted Local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Internal SQLite Log: </a:t>
            </a:r>
            <a:r>
              <a:rPr b="0" sz="1050">
                <a:solidFill>
                  <a:srgbClr val="94A3B8"/>
                </a:solidFill>
                <a:latin typeface="Arial"/>
              </a:rPr>
              <a:t>Maintains scan details and fix logs locally on protected DB paths, adhering to bank archiving regulations.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Encrypted Storage: </a:t>
            </a:r>
            <a:r>
              <a:rPr b="0" sz="1050">
                <a:solidFill>
                  <a:srgbClr val="94A3B8"/>
                </a:solidFill>
                <a:latin typeface="Arial"/>
              </a:rPr>
              <a:t>Supports DB level locks and encryption-at-rest configurations to protect ledger integrity from local exposures.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FFFFFF"/>
                </a:solidFill>
                <a:latin typeface="Arial"/>
              </a:rPr>
              <a:t>•  RBI Audit Readiness: </a:t>
            </a:r>
            <a:r>
              <a:rPr b="0" sz="1050">
                <a:solidFill>
                  <a:srgbClr val="94A3B8"/>
                </a:solidFill>
                <a:latin typeface="Arial"/>
              </a:rPr>
              <a:t>Logs include user justifications, scanned targets, hash fingerprints, and security stamps for CISOs.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59E0B"/>
                </a:solidFill>
                <a:latin typeface="Arial"/>
              </a:defRPr>
            </a:pPr>
            <a:r>
              <a:t>Let's See SovaScan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FFFFFF"/>
                </a:solidFill>
                <a:latin typeface="Arial"/>
              </a:defRPr>
            </a:pPr>
            <a:r>
              <a:t>"The next leaked banking credential is sitting in a codebase right now."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Arial"/>
              </a:defRPr>
            </a:pPr>
            <a:r>
              <a:t>The only question is who finds it first -- an attacker, or SovaScan.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457200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Project Repository: github.com/abhinavsingh2403/SovaScan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Arial"/>
              </a:defRPr>
            </a:pPr>
            <a:r>
              <a:t>Deployable On-Premises | Zero-Trust Data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4846320" cy="429768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48463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524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TRANSITION TO 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874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While we pull up the live dashboard execution portal on-screen, feel free to scan below to view SovaScan's repository codebases: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063240"/>
            <a:ext cx="1828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30768" y="3172968"/>
            <a:ext cx="4114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85632" y="3227832"/>
            <a:ext cx="3017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4212" y="3296412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28632" y="3172968"/>
            <a:ext cx="4114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83496" y="3227832"/>
            <a:ext cx="3017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52076" y="3296412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30768" y="4370832"/>
            <a:ext cx="4114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85632" y="4425696"/>
            <a:ext cx="3017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54212" y="4494276"/>
            <a:ext cx="16459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3703320"/>
            <a:ext cx="548640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3904488"/>
            <a:ext cx="182880" cy="22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4069080"/>
            <a:ext cx="27432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5480" y="3703320"/>
            <a:ext cx="1828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4297680"/>
            <a:ext cx="32004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3703320"/>
            <a:ext cx="36576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0" y="4023360"/>
            <a:ext cx="18288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937759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t>Scan to View Repo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  <a:latin typeface="Arial"/>
              </a:defRPr>
            </a:pPr>
            <a:r>
              <a:t>SOVASCAN  |  Enterprise Code Governance &amp; Regulatory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